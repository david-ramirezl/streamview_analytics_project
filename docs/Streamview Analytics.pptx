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
      <p:font typeface="Merriweather"/>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Merriweather-regular.fntdata"/><Relationship Id="rId21" Type="http://schemas.openxmlformats.org/officeDocument/2006/relationships/font" Target="fonts/Roboto-boldItalic.fntdata"/><Relationship Id="rId24" Type="http://schemas.openxmlformats.org/officeDocument/2006/relationships/font" Target="fonts/Merriweather-italic.fntdata"/><Relationship Id="rId23" Type="http://schemas.openxmlformats.org/officeDocument/2006/relationships/font" Target="fonts/Merriweath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Merriweath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6c63662f700f400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h6c63662f700f400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h6c63662f700f400d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h6c63662f700f400d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6c63662f700f400d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h6c63662f700f400d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4be58eb2a6a8877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4be58eb2a6a8877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h4be58eb2a6a8877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h4be58eb2a6a8877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4be58eb2a6a887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h4be58eb2a6a887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4be58eb2a6a88778_7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h4be58eb2a6a88778_7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4be58eb2a6a88778_7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h4be58eb2a6a88778_7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4be58eb2a6a88778_7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h4be58eb2a6a88778_7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4be58eb2a6a88778_7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h4be58eb2a6a88778_7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h4be58eb2a6a88778_7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h4be58eb2a6a88778_7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h73f5e45866e09679_15_0)">
  <p:cSld name="Diapositiva con título (h73f5e45866e09679_15_0)">
    <p:bg>
      <p:bgPr>
        <a:solidFill>
          <a:schemeClr val="dk1"/>
        </a:solidFill>
      </p:bgPr>
    </p:bg>
    <p:spTree>
      <p:nvGrpSpPr>
        <p:cNvPr id="60" name="Shape 60"/>
        <p:cNvGrpSpPr/>
        <p:nvPr/>
      </p:nvGrpSpPr>
      <p:grpSpPr>
        <a:xfrm>
          <a:off x="0" y="0"/>
          <a:ext cx="0" cy="0"/>
          <a:chOff x="0" y="0"/>
          <a:chExt cx="0" cy="0"/>
        </a:xfrm>
      </p:grpSpPr>
      <p:sp>
        <p:nvSpPr>
          <p:cNvPr id="61" name="Google Shape;61;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62" name="Google Shape;62;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63" name="Google Shape;6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9.png"/><Relationship Id="rId5" Type="http://schemas.openxmlformats.org/officeDocument/2006/relationships/image" Target="../media/image20.png"/><Relationship Id="rId6" Type="http://schemas.openxmlformats.org/officeDocument/2006/relationships/image" Target="../media/image10.png"/><Relationship Id="rId7" Type="http://schemas.openxmlformats.org/officeDocument/2006/relationships/image" Target="../media/image8.png"/><Relationship Id="rId8" Type="http://schemas.openxmlformats.org/officeDocument/2006/relationships/image" Target="../media/image11.png"/></Relationships>
</file>

<file path=ppt/slides/_rels/slide9.xml.rels><?xml version="1.0" encoding="UTF-8" standalone="yes"?><Relationships xmlns="http://schemas.openxmlformats.org/package/2006/relationships"><Relationship Id="rId10" Type="http://schemas.openxmlformats.org/officeDocument/2006/relationships/image" Target="../media/image14.png"/><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24.png"/><Relationship Id="rId9"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grpSp>
        <p:nvGrpSpPr>
          <p:cNvPr id="68" name="Google Shape;68;p14"/>
          <p:cNvGrpSpPr/>
          <p:nvPr/>
        </p:nvGrpSpPr>
        <p:grpSpPr>
          <a:xfrm>
            <a:off x="0" y="0"/>
            <a:ext cx="9144000" cy="5143500"/>
            <a:chOff x="0" y="0"/>
            <a:chExt cx="9144000" cy="5143500"/>
          </a:xfrm>
        </p:grpSpPr>
        <p:sp>
          <p:nvSpPr>
            <p:cNvPr id="69" name="Google Shape;69;p14"/>
            <p:cNvSpPr/>
            <p:nvPr/>
          </p:nvSpPr>
          <p:spPr>
            <a:xfrm>
              <a:off x="0" y="0"/>
              <a:ext cx="3810000" cy="5143500"/>
            </a:xfrm>
            <a:custGeom>
              <a:rect b="b" l="l" r="r" t="t"/>
              <a:pathLst>
                <a:path extrusionOk="0" h="120000" w="120000">
                  <a:moveTo>
                    <a:pt x="0" y="0"/>
                  </a:moveTo>
                  <a:lnTo>
                    <a:pt x="120000" y="0"/>
                  </a:lnTo>
                  <a:lnTo>
                    <a:pt x="84000" y="120000"/>
                  </a:lnTo>
                  <a:lnTo>
                    <a:pt x="0" y="120000"/>
                  </a:lnTo>
                  <a:close/>
                </a:path>
              </a:pathLst>
            </a:custGeom>
            <a:solidFill>
              <a:srgbClr val="252D3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14"/>
            <p:cNvSpPr/>
            <p:nvPr/>
          </p:nvSpPr>
          <p:spPr>
            <a:xfrm>
              <a:off x="0" y="5067300"/>
              <a:ext cx="9144000" cy="76200"/>
            </a:xfrm>
            <a:custGeom>
              <a:rect b="b" l="l" r="r" t="t"/>
              <a:pathLst>
                <a:path extrusionOk="0" h="120000" w="120000">
                  <a:moveTo>
                    <a:pt x="0" y="0"/>
                  </a:moveTo>
                  <a:lnTo>
                    <a:pt x="120000" y="0"/>
                  </a:lnTo>
                  <a:lnTo>
                    <a:pt x="120000" y="120000"/>
                  </a:lnTo>
                  <a:lnTo>
                    <a:pt x="0" y="120000"/>
                  </a:lnTo>
                  <a:close/>
                </a:path>
              </a:pathLst>
            </a:custGeom>
            <a:solidFill>
              <a:srgbClr val="D9C4B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14"/>
            <p:cNvSpPr/>
            <p:nvPr/>
          </p:nvSpPr>
          <p:spPr>
            <a:xfrm>
              <a:off x="5048250" y="571500"/>
              <a:ext cx="4000500" cy="4000500"/>
            </a:xfrm>
            <a:prstGeom prst="ellipse">
              <a:avLst/>
            </a:prstGeom>
            <a:solidFill>
              <a:srgbClr val="252D3F">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2" name="Google Shape;72;p14"/>
            <p:cNvPicPr preferRelativeResize="0"/>
            <p:nvPr/>
          </p:nvPicPr>
          <p:blipFill rotWithShape="1">
            <a:blip r:embed="rId4">
              <a:alphaModFix/>
            </a:blip>
            <a:srcRect b="0" l="0" r="0" t="0"/>
            <a:stretch/>
          </p:blipFill>
          <p:spPr>
            <a:xfrm>
              <a:off x="5519738" y="1042988"/>
              <a:ext cx="2962200" cy="3057600"/>
            </a:xfrm>
            <a:prstGeom prst="rect">
              <a:avLst/>
            </a:prstGeom>
            <a:noFill/>
            <a:ln>
              <a:noFill/>
            </a:ln>
          </p:spPr>
        </p:pic>
      </p:grpSp>
      <p:sp>
        <p:nvSpPr>
          <p:cNvPr id="73" name="Google Shape;73;p14"/>
          <p:cNvSpPr txBox="1"/>
          <p:nvPr>
            <p:ph type="ctrTitle"/>
          </p:nvPr>
        </p:nvSpPr>
        <p:spPr>
          <a:xfrm>
            <a:off x="571500" y="762000"/>
            <a:ext cx="4572000" cy="1714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s" sz="1200">
                <a:solidFill>
                  <a:srgbClr val="D9C4B1"/>
                </a:solidFill>
                <a:latin typeface="Roboto"/>
                <a:ea typeface="Roboto"/>
                <a:cs typeface="Roboto"/>
                <a:sym typeface="Roboto"/>
              </a:rPr>
              <a:t>Caso semestral</a:t>
            </a:r>
            <a:endParaRPr b="1" sz="1200">
              <a:solidFill>
                <a:srgbClr val="D9C4B1"/>
              </a:solidFill>
              <a:latin typeface="Roboto"/>
              <a:ea typeface="Roboto"/>
              <a:cs typeface="Roboto"/>
              <a:sym typeface="Roboto"/>
            </a:endParaRPr>
          </a:p>
          <a:p>
            <a:pPr indent="0" lvl="0" marL="0" rtl="0" algn="l">
              <a:spcBef>
                <a:spcPts val="900"/>
              </a:spcBef>
              <a:spcAft>
                <a:spcPts val="0"/>
              </a:spcAft>
              <a:buNone/>
            </a:pPr>
            <a:r>
              <a:rPr b="1" lang="es" sz="3800">
                <a:solidFill>
                  <a:srgbClr val="FFFFFF"/>
                </a:solidFill>
                <a:latin typeface="Merriweather"/>
                <a:ea typeface="Merriweather"/>
                <a:cs typeface="Merriweather"/>
                <a:sym typeface="Merriweather"/>
              </a:rPr>
              <a:t>VISUALIZACIÓN DE DATOS</a:t>
            </a:r>
            <a:endParaRPr b="1" sz="3800">
              <a:solidFill>
                <a:srgbClr val="FFFFFF"/>
              </a:solidFill>
              <a:latin typeface="Merriweather"/>
              <a:ea typeface="Merriweather"/>
              <a:cs typeface="Merriweather"/>
              <a:sym typeface="Merriweather"/>
            </a:endParaRPr>
          </a:p>
        </p:txBody>
      </p:sp>
      <p:sp>
        <p:nvSpPr>
          <p:cNvPr id="74" name="Google Shape;74;p14"/>
          <p:cNvSpPr txBox="1"/>
          <p:nvPr>
            <p:ph idx="1" type="subTitle"/>
          </p:nvPr>
        </p:nvSpPr>
        <p:spPr>
          <a:xfrm>
            <a:off x="571500" y="2952750"/>
            <a:ext cx="4572000" cy="15240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s" sz="1100">
                <a:solidFill>
                  <a:srgbClr val="D9C4B1"/>
                </a:solidFill>
                <a:latin typeface="Roboto"/>
                <a:ea typeface="Roboto"/>
                <a:cs typeface="Roboto"/>
                <a:sym typeface="Roboto"/>
              </a:rPr>
              <a:t>Integrantes:</a:t>
            </a:r>
            <a:endParaRPr b="1" sz="1100">
              <a:solidFill>
                <a:srgbClr val="D9C4B1"/>
              </a:solidFill>
              <a:latin typeface="Roboto"/>
              <a:ea typeface="Roboto"/>
              <a:cs typeface="Roboto"/>
              <a:sym typeface="Roboto"/>
            </a:endParaRPr>
          </a:p>
          <a:p>
            <a:pPr indent="0" lvl="0" marL="0" rtl="0" algn="l">
              <a:spcBef>
                <a:spcPts val="1050"/>
              </a:spcBef>
              <a:spcAft>
                <a:spcPts val="0"/>
              </a:spcAft>
              <a:buNone/>
            </a:pPr>
            <a:r>
              <a:rPr b="0" lang="es" sz="1500">
                <a:solidFill>
                  <a:srgbClr val="D9C4B1"/>
                </a:solidFill>
                <a:latin typeface="Roboto"/>
                <a:ea typeface="Roboto"/>
                <a:cs typeface="Roboto"/>
                <a:sym typeface="Roboto"/>
              </a:rPr>
              <a:t>•</a:t>
            </a:r>
            <a:r>
              <a:rPr b="0" lang="es" sz="1500">
                <a:solidFill>
                  <a:srgbClr val="FFFFFF"/>
                </a:solidFill>
                <a:latin typeface="Roboto"/>
                <a:ea typeface="Roboto"/>
                <a:cs typeface="Roboto"/>
                <a:sym typeface="Roboto"/>
              </a:rPr>
              <a:t>David Ramirez</a:t>
            </a:r>
            <a:endParaRPr b="0" sz="1500">
              <a:solidFill>
                <a:srgbClr val="FFFFFF"/>
              </a:solidFill>
              <a:latin typeface="Roboto"/>
              <a:ea typeface="Roboto"/>
              <a:cs typeface="Roboto"/>
              <a:sym typeface="Roboto"/>
            </a:endParaRPr>
          </a:p>
          <a:p>
            <a:pPr indent="0" lvl="0" marL="0" rtl="0" algn="l">
              <a:spcBef>
                <a:spcPts val="600"/>
              </a:spcBef>
              <a:spcAft>
                <a:spcPts val="0"/>
              </a:spcAft>
              <a:buNone/>
            </a:pPr>
            <a:r>
              <a:rPr b="0" lang="es" sz="1500">
                <a:solidFill>
                  <a:srgbClr val="D9C4B1"/>
                </a:solidFill>
                <a:latin typeface="Roboto"/>
                <a:ea typeface="Roboto"/>
                <a:cs typeface="Roboto"/>
                <a:sym typeface="Roboto"/>
              </a:rPr>
              <a:t>•</a:t>
            </a:r>
            <a:r>
              <a:rPr b="0" lang="es" sz="1500">
                <a:solidFill>
                  <a:srgbClr val="FFFFFF"/>
                </a:solidFill>
                <a:latin typeface="Roboto"/>
                <a:ea typeface="Roboto"/>
                <a:cs typeface="Roboto"/>
                <a:sym typeface="Roboto"/>
              </a:rPr>
              <a:t>Octavio Chavez</a:t>
            </a:r>
            <a:endParaRPr b="0" sz="1500">
              <a:solidFill>
                <a:srgbClr val="FFFFFF"/>
              </a:solidFill>
              <a:latin typeface="Roboto"/>
              <a:ea typeface="Roboto"/>
              <a:cs typeface="Roboto"/>
              <a:sym typeface="Roboto"/>
            </a:endParaRPr>
          </a:p>
          <a:p>
            <a:pPr indent="0" lvl="0" marL="0" rtl="0" algn="l">
              <a:spcBef>
                <a:spcPts val="600"/>
              </a:spcBef>
              <a:spcAft>
                <a:spcPts val="0"/>
              </a:spcAft>
              <a:buNone/>
            </a:pPr>
            <a:r>
              <a:rPr b="0" lang="es" sz="1500">
                <a:solidFill>
                  <a:srgbClr val="D9C4B1"/>
                </a:solidFill>
                <a:latin typeface="Roboto"/>
                <a:ea typeface="Roboto"/>
                <a:cs typeface="Roboto"/>
                <a:sym typeface="Roboto"/>
              </a:rPr>
              <a:t>•</a:t>
            </a:r>
            <a:r>
              <a:rPr b="0" lang="es" sz="1500">
                <a:solidFill>
                  <a:srgbClr val="FFFFFF"/>
                </a:solidFill>
                <a:latin typeface="Roboto"/>
                <a:ea typeface="Roboto"/>
                <a:cs typeface="Roboto"/>
                <a:sym typeface="Roboto"/>
              </a:rPr>
              <a:t>Felipe Huincaman</a:t>
            </a:r>
            <a:endParaRPr b="0" sz="1500">
              <a:solidFill>
                <a:srgbClr val="FFFFFF"/>
              </a:solidFill>
              <a:latin typeface="Roboto"/>
              <a:ea typeface="Roboto"/>
              <a:cs typeface="Roboto"/>
              <a:sym typeface="Roboto"/>
            </a:endParaRPr>
          </a:p>
        </p:txBody>
      </p:sp>
      <p:pic>
        <p:nvPicPr>
          <p:cNvPr id="75" name="Google Shape;75;p14"/>
          <p:cNvPicPr preferRelativeResize="0"/>
          <p:nvPr/>
        </p:nvPicPr>
        <p:blipFill rotWithShape="1">
          <a:blip r:embed="rId5">
            <a:alphaModFix/>
          </a:blip>
          <a:srcRect b="4928" l="6928" r="4474" t="5314"/>
          <a:stretch/>
        </p:blipFill>
        <p:spPr>
          <a:xfrm>
            <a:off x="5819899" y="1652701"/>
            <a:ext cx="2361950" cy="1838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Contexto y Estrategia Comunicacional</a:t>
            </a:r>
            <a:endParaRPr/>
          </a:p>
        </p:txBody>
      </p:sp>
      <p:sp>
        <p:nvSpPr>
          <p:cNvPr id="81" name="Google Shape;81;p15"/>
          <p:cNvSpPr txBox="1"/>
          <p:nvPr>
            <p:ph idx="1" type="body"/>
          </p:nvPr>
        </p:nvSpPr>
        <p:spPr>
          <a:xfrm>
            <a:off x="4644675" y="582950"/>
            <a:ext cx="4166400" cy="4287300"/>
          </a:xfrm>
          <a:prstGeom prst="rect">
            <a:avLst/>
          </a:prstGeom>
        </p:spPr>
        <p:txBody>
          <a:bodyPr anchorCtr="0" anchor="t" bIns="91425" lIns="91425" spcFirstLastPara="1" rIns="91425" wrap="square" tIns="91425">
            <a:normAutofit fontScale="55000" lnSpcReduction="10000"/>
          </a:bodyPr>
          <a:lstStyle/>
          <a:p>
            <a:pPr indent="-311398" lvl="0" marL="457200" rtl="0" algn="l">
              <a:spcBef>
                <a:spcPts val="0"/>
              </a:spcBef>
              <a:spcAft>
                <a:spcPts val="0"/>
              </a:spcAft>
              <a:buSzPct val="100000"/>
              <a:buChar char="-"/>
            </a:pPr>
            <a:r>
              <a:rPr b="1" lang="es" sz="2371"/>
              <a:t>P</a:t>
            </a:r>
            <a:r>
              <a:rPr b="1" lang="es" sz="2371"/>
              <a:t>roblema: </a:t>
            </a:r>
            <a:r>
              <a:rPr lang="es" sz="2371"/>
              <a:t>Datos </a:t>
            </a:r>
            <a:r>
              <a:rPr lang="es" sz="2371"/>
              <a:t>fragmentados</a:t>
            </a:r>
            <a:r>
              <a:rPr lang="es" sz="2371"/>
              <a:t> y contradictorios que provocan decisiones a ciegas en StreamView Analytics.</a:t>
            </a:r>
            <a:endParaRPr sz="2371"/>
          </a:p>
          <a:p>
            <a:pPr indent="0" lvl="0" marL="0" rtl="0" algn="l">
              <a:spcBef>
                <a:spcPts val="1200"/>
              </a:spcBef>
              <a:spcAft>
                <a:spcPts val="0"/>
              </a:spcAft>
              <a:buNone/>
            </a:pPr>
            <a:r>
              <a:t/>
            </a:r>
            <a:endParaRPr sz="2371"/>
          </a:p>
          <a:p>
            <a:pPr indent="-311398" lvl="0" marL="457200" rtl="0" algn="l">
              <a:spcBef>
                <a:spcPts val="1200"/>
              </a:spcBef>
              <a:spcAft>
                <a:spcPts val="0"/>
              </a:spcAft>
              <a:buSzPct val="100000"/>
              <a:buChar char="-"/>
            </a:pPr>
            <a:r>
              <a:rPr b="1" lang="es" sz="2371"/>
              <a:t>Audiencia:</a:t>
            </a:r>
            <a:r>
              <a:rPr lang="es" sz="2371"/>
              <a:t> Directorio (KPIs globales), Contenidos (licencias) y Marketing (promoci</a:t>
            </a:r>
            <a:r>
              <a:rPr lang="es" sz="2371"/>
              <a:t>ón</a:t>
            </a:r>
            <a:r>
              <a:rPr lang="es" sz="2371"/>
              <a:t>).</a:t>
            </a:r>
            <a:endParaRPr sz="2371"/>
          </a:p>
          <a:p>
            <a:pPr indent="0" lvl="0" marL="0" rtl="0" algn="l">
              <a:spcBef>
                <a:spcPts val="1200"/>
              </a:spcBef>
              <a:spcAft>
                <a:spcPts val="0"/>
              </a:spcAft>
              <a:buNone/>
            </a:pPr>
            <a:r>
              <a:t/>
            </a:r>
            <a:endParaRPr sz="2371"/>
          </a:p>
          <a:p>
            <a:pPr indent="-311398" lvl="0" marL="457200" rtl="0" algn="l">
              <a:spcBef>
                <a:spcPts val="1200"/>
              </a:spcBef>
              <a:spcAft>
                <a:spcPts val="0"/>
              </a:spcAft>
              <a:buSzPct val="100000"/>
              <a:buChar char="-"/>
            </a:pPr>
            <a:r>
              <a:rPr b="1" lang="es" sz="2371"/>
              <a:t>Decisiones:</a:t>
            </a:r>
            <a:r>
              <a:rPr lang="es" sz="2371"/>
              <a:t> Optimizar la compra/renovaci</a:t>
            </a:r>
            <a:r>
              <a:rPr lang="es" sz="2371"/>
              <a:t>ón de catálogo y enfocar el presupuesto publicitario.</a:t>
            </a:r>
            <a:endParaRPr sz="2371"/>
          </a:p>
          <a:p>
            <a:pPr indent="0" lvl="0" marL="0" rtl="0" algn="l">
              <a:spcBef>
                <a:spcPts val="1200"/>
              </a:spcBef>
              <a:spcAft>
                <a:spcPts val="0"/>
              </a:spcAft>
              <a:buNone/>
            </a:pPr>
            <a:r>
              <a:t/>
            </a:r>
            <a:endParaRPr sz="2371"/>
          </a:p>
          <a:p>
            <a:pPr indent="-311398" lvl="0" marL="457200" rtl="0" algn="l">
              <a:spcBef>
                <a:spcPts val="1200"/>
              </a:spcBef>
              <a:spcAft>
                <a:spcPts val="0"/>
              </a:spcAft>
              <a:buSzPct val="100000"/>
              <a:buChar char="-"/>
            </a:pPr>
            <a:r>
              <a:rPr b="1" lang="es" sz="2371"/>
              <a:t>Propósito</a:t>
            </a:r>
            <a:r>
              <a:rPr b="1" lang="es" sz="2371"/>
              <a:t>:</a:t>
            </a:r>
            <a:r>
              <a:rPr lang="es" sz="2371"/>
              <a:t> Unificar la información en un dashboard interactivo claro que acelere la toma de decisiones.</a:t>
            </a:r>
            <a:endParaRPr sz="2371"/>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Audiencia Objetivo</a:t>
            </a:r>
            <a:endParaRPr/>
          </a:p>
        </p:txBody>
      </p:sp>
      <p:sp>
        <p:nvSpPr>
          <p:cNvPr id="87" name="Google Shape;87;p16"/>
          <p:cNvSpPr txBox="1"/>
          <p:nvPr>
            <p:ph idx="4294967295" type="body"/>
          </p:nvPr>
        </p:nvSpPr>
        <p:spPr>
          <a:xfrm>
            <a:off x="311725" y="1424925"/>
            <a:ext cx="8520600" cy="3407100"/>
          </a:xfrm>
          <a:prstGeom prst="rect">
            <a:avLst/>
          </a:prstGeom>
        </p:spPr>
        <p:txBody>
          <a:bodyPr anchorCtr="0" anchor="t" bIns="91425" lIns="91425" spcFirstLastPara="1" rIns="91425" wrap="square" tIns="91425">
            <a:normAutofit fontScale="85000" lnSpcReduction="20000"/>
          </a:bodyPr>
          <a:lstStyle/>
          <a:p>
            <a:pPr indent="-330279" lvl="0" marL="457200" rtl="0" algn="l">
              <a:spcBef>
                <a:spcPts val="0"/>
              </a:spcBef>
              <a:spcAft>
                <a:spcPts val="0"/>
              </a:spcAft>
              <a:buSzPct val="100000"/>
              <a:buChar char="-"/>
            </a:pPr>
            <a:r>
              <a:rPr b="1" lang="es" sz="1884"/>
              <a:t>Directorio y Gerencia General: </a:t>
            </a:r>
            <a:r>
              <a:rPr lang="es" sz="1884"/>
              <a:t>Panorama global y KPIs para la toma de decisiones de inversi</a:t>
            </a:r>
            <a:r>
              <a:rPr lang="es" sz="1884"/>
              <a:t>ón a largo plazo.</a:t>
            </a:r>
            <a:endParaRPr sz="1884"/>
          </a:p>
          <a:p>
            <a:pPr indent="0" lvl="0" marL="457200" rtl="0" algn="l">
              <a:spcBef>
                <a:spcPts val="1200"/>
              </a:spcBef>
              <a:spcAft>
                <a:spcPts val="0"/>
              </a:spcAft>
              <a:buNone/>
            </a:pPr>
            <a:r>
              <a:t/>
            </a:r>
            <a:endParaRPr sz="1884"/>
          </a:p>
          <a:p>
            <a:pPr indent="-330279" lvl="0" marL="457200" rtl="0" algn="l">
              <a:spcBef>
                <a:spcPts val="1200"/>
              </a:spcBef>
              <a:spcAft>
                <a:spcPts val="0"/>
              </a:spcAft>
              <a:buSzPct val="100000"/>
              <a:buChar char="-"/>
            </a:pPr>
            <a:r>
              <a:rPr b="1" lang="es" sz="1884"/>
              <a:t>Contenidos y adquisición: </a:t>
            </a:r>
            <a:r>
              <a:rPr lang="es" sz="1884"/>
              <a:t>Análisis técnico (Género, idioma, país) para seleccionar las producciones más valoradas y vistas.</a:t>
            </a:r>
            <a:endParaRPr sz="1884"/>
          </a:p>
          <a:p>
            <a:pPr indent="0" lvl="0" marL="457200" rtl="0" algn="l">
              <a:spcBef>
                <a:spcPts val="1200"/>
              </a:spcBef>
              <a:spcAft>
                <a:spcPts val="0"/>
              </a:spcAft>
              <a:buNone/>
            </a:pPr>
            <a:r>
              <a:t/>
            </a:r>
            <a:endParaRPr sz="1884"/>
          </a:p>
          <a:p>
            <a:pPr indent="-330279" lvl="0" marL="457200" rtl="0" algn="l">
              <a:spcBef>
                <a:spcPts val="1200"/>
              </a:spcBef>
              <a:spcAft>
                <a:spcPts val="0"/>
              </a:spcAft>
              <a:buSzPct val="100000"/>
              <a:buChar char="-"/>
            </a:pPr>
            <a:r>
              <a:rPr b="1" lang="es" sz="1884"/>
              <a:t>Marketing: </a:t>
            </a:r>
            <a:r>
              <a:rPr lang="es" sz="1884"/>
              <a:t>Identificación de </a:t>
            </a:r>
            <a:r>
              <a:rPr lang="es" sz="1884"/>
              <a:t>título</a:t>
            </a:r>
            <a:r>
              <a:rPr lang="es" sz="1884"/>
              <a:t> y segmentos populares para optimizar las campañas publicitarias.</a:t>
            </a:r>
            <a:endParaRPr sz="1884"/>
          </a:p>
          <a:p>
            <a:pPr indent="0" lvl="0" marL="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25" y="500925"/>
            <a:ext cx="3127500" cy="1829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Fuentes de Datos y An</a:t>
            </a:r>
            <a:r>
              <a:rPr lang="es"/>
              <a:t>álisis Exploratorio (EDA)</a:t>
            </a:r>
            <a:endParaRPr/>
          </a:p>
        </p:txBody>
      </p:sp>
      <p:sp>
        <p:nvSpPr>
          <p:cNvPr id="93" name="Google Shape;93;p1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sz="1400"/>
              <a:t>Fuentes de datos:</a:t>
            </a:r>
            <a:endParaRPr b="1" sz="1400"/>
          </a:p>
          <a:p>
            <a:pPr indent="-317500" lvl="0" marL="457200" rtl="0" algn="l">
              <a:spcBef>
                <a:spcPts val="1200"/>
              </a:spcBef>
              <a:spcAft>
                <a:spcPts val="0"/>
              </a:spcAft>
              <a:buSzPts val="1400"/>
              <a:buChar char="-"/>
            </a:pPr>
            <a:r>
              <a:rPr lang="es" sz="1400"/>
              <a:t>Netflix Movies Detailed up to 2025</a:t>
            </a:r>
            <a:endParaRPr sz="1400"/>
          </a:p>
          <a:p>
            <a:pPr indent="-317500" lvl="0" marL="457200" rtl="0" algn="l">
              <a:spcBef>
                <a:spcPts val="0"/>
              </a:spcBef>
              <a:spcAft>
                <a:spcPts val="0"/>
              </a:spcAft>
              <a:buSzPts val="1400"/>
              <a:buChar char="-"/>
            </a:pPr>
            <a:r>
              <a:rPr lang="es" sz="1400"/>
              <a:t>Netflix TV Shows Detailed up to 2025</a:t>
            </a:r>
            <a:endParaRPr sz="1400"/>
          </a:p>
        </p:txBody>
      </p:sp>
      <p:sp>
        <p:nvSpPr>
          <p:cNvPr id="94" name="Google Shape;94;p17"/>
          <p:cNvSpPr txBox="1"/>
          <p:nvPr>
            <p:ph idx="1" type="body"/>
          </p:nvPr>
        </p:nvSpPr>
        <p:spPr>
          <a:xfrm>
            <a:off x="4004850" y="500925"/>
            <a:ext cx="4806300" cy="4098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accent1"/>
              </a:buClr>
              <a:buSzPts val="1400"/>
              <a:buChar char="-"/>
            </a:pPr>
            <a:r>
              <a:rPr b="1" lang="es" sz="1400">
                <a:solidFill>
                  <a:schemeClr val="accent1"/>
                </a:solidFill>
              </a:rPr>
              <a:t>Volumen:</a:t>
            </a:r>
            <a:r>
              <a:rPr lang="es" sz="1400">
                <a:solidFill>
                  <a:schemeClr val="accent1"/>
                </a:solidFill>
              </a:rPr>
              <a:t> integra 32.000 registros (</a:t>
            </a:r>
            <a:r>
              <a:rPr lang="es" sz="1400">
                <a:solidFill>
                  <a:schemeClr val="accent1"/>
                </a:solidFill>
              </a:rPr>
              <a:t>películas</a:t>
            </a:r>
            <a:r>
              <a:rPr lang="es" sz="1400">
                <a:solidFill>
                  <a:schemeClr val="accent1"/>
                </a:solidFill>
              </a:rPr>
              <a:t> y </a:t>
            </a:r>
            <a:r>
              <a:rPr lang="es" sz="1400">
                <a:solidFill>
                  <a:schemeClr val="accent1"/>
                </a:solidFill>
              </a:rPr>
              <a:t>series</a:t>
            </a:r>
            <a:r>
              <a:rPr lang="es" sz="1400">
                <a:solidFill>
                  <a:schemeClr val="accent1"/>
                </a:solidFill>
              </a:rPr>
              <a:t>) de conjuntos de datos actualizados a 2025.</a:t>
            </a:r>
            <a:endParaRPr sz="1400">
              <a:solidFill>
                <a:schemeClr val="accent1"/>
              </a:solidFill>
            </a:endParaRPr>
          </a:p>
          <a:p>
            <a:pPr indent="0" lvl="0" marL="0" rtl="0" algn="l">
              <a:spcBef>
                <a:spcPts val="1200"/>
              </a:spcBef>
              <a:spcAft>
                <a:spcPts val="0"/>
              </a:spcAft>
              <a:buNone/>
            </a:pPr>
            <a:r>
              <a:t/>
            </a:r>
            <a:endParaRPr sz="1400">
              <a:solidFill>
                <a:schemeClr val="accent1"/>
              </a:solidFill>
            </a:endParaRPr>
          </a:p>
          <a:p>
            <a:pPr indent="-317500" lvl="0" marL="457200" rtl="0" algn="l">
              <a:spcBef>
                <a:spcPts val="1200"/>
              </a:spcBef>
              <a:spcAft>
                <a:spcPts val="0"/>
              </a:spcAft>
              <a:buClr>
                <a:schemeClr val="accent1"/>
              </a:buClr>
              <a:buSzPts val="1400"/>
              <a:buChar char="-"/>
            </a:pPr>
            <a:r>
              <a:rPr b="1" lang="es" sz="1400">
                <a:solidFill>
                  <a:schemeClr val="accent1"/>
                </a:solidFill>
              </a:rPr>
              <a:t>DImensiones: </a:t>
            </a:r>
            <a:r>
              <a:rPr lang="es" sz="1400">
                <a:solidFill>
                  <a:schemeClr val="accent1"/>
                </a:solidFill>
              </a:rPr>
              <a:t>Comprende datos descriptivos (origen, </a:t>
            </a:r>
            <a:r>
              <a:rPr lang="es" sz="1400">
                <a:solidFill>
                  <a:schemeClr val="accent1"/>
                </a:solidFill>
              </a:rPr>
              <a:t>género</a:t>
            </a:r>
            <a:r>
              <a:rPr lang="es" sz="1400">
                <a:solidFill>
                  <a:schemeClr val="accent1"/>
                </a:solidFill>
              </a:rPr>
              <a:t>), de impacto (popularidad, notas), de formato (duración, clasificación) y financieros (presupuesto y caja, solo peliculas)</a:t>
            </a:r>
            <a:endParaRPr sz="1400">
              <a:solidFill>
                <a:schemeClr val="accent1"/>
              </a:solidFill>
            </a:endParaRPr>
          </a:p>
          <a:p>
            <a:pPr indent="0" lvl="0" marL="457200" rtl="0" algn="l">
              <a:spcBef>
                <a:spcPts val="1200"/>
              </a:spcBef>
              <a:spcAft>
                <a:spcPts val="0"/>
              </a:spcAft>
              <a:buNone/>
            </a:pPr>
            <a:r>
              <a:t/>
            </a:r>
            <a:endParaRPr sz="1400">
              <a:solidFill>
                <a:schemeClr val="accent1"/>
              </a:solidFill>
            </a:endParaRPr>
          </a:p>
          <a:p>
            <a:pPr indent="-317500" lvl="0" marL="457200" rtl="0" algn="l">
              <a:spcBef>
                <a:spcPts val="1200"/>
              </a:spcBef>
              <a:spcAft>
                <a:spcPts val="0"/>
              </a:spcAft>
              <a:buClr>
                <a:schemeClr val="accent1"/>
              </a:buClr>
              <a:buSzPts val="1400"/>
              <a:buChar char="-"/>
            </a:pPr>
            <a:r>
              <a:rPr b="1" lang="es" sz="1400">
                <a:solidFill>
                  <a:schemeClr val="accent1"/>
                </a:solidFill>
              </a:rPr>
              <a:t>Procesamiento (Python): </a:t>
            </a:r>
            <a:r>
              <a:rPr lang="es" sz="1400">
                <a:solidFill>
                  <a:schemeClr val="accent1"/>
                </a:solidFill>
              </a:rPr>
              <a:t>Limpieza da fechas, desanidado de variables múltiples (géneros/países) y tratamiento de nulos financieros para evitar distorsiones en el cálculo del ROI.</a:t>
            </a:r>
            <a:endParaRPr sz="1400">
              <a:solidFill>
                <a:schemeClr val="accent1"/>
              </a:solidFill>
            </a:endParaRPr>
          </a:p>
          <a:p>
            <a:pPr indent="0" lvl="0" marL="45720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1600"/>
              <a:t>Dashboard con enfoque cuantitativo, orientado a gerencia.</a:t>
            </a:r>
            <a:endParaRPr sz="1600"/>
          </a:p>
        </p:txBody>
      </p:sp>
      <p:pic>
        <p:nvPicPr>
          <p:cNvPr id="100" name="Google Shape;100;p18" title="Captura de pantalla 2026-10-11 165746.png"/>
          <p:cNvPicPr preferRelativeResize="0"/>
          <p:nvPr/>
        </p:nvPicPr>
        <p:blipFill>
          <a:blip r:embed="rId3">
            <a:alphaModFix/>
          </a:blip>
          <a:stretch>
            <a:fillRect/>
          </a:stretch>
        </p:blipFill>
        <p:spPr>
          <a:xfrm>
            <a:off x="-20925" y="58775"/>
            <a:ext cx="9144001" cy="4310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sz="1600"/>
              <a:t>Dashboard con enfoque cualitativo, orientado a marketing y contenido.</a:t>
            </a:r>
            <a:endParaRPr sz="1600"/>
          </a:p>
        </p:txBody>
      </p:sp>
      <p:pic>
        <p:nvPicPr>
          <p:cNvPr id="106" name="Google Shape;106;p19"/>
          <p:cNvPicPr preferRelativeResize="0"/>
          <p:nvPr/>
        </p:nvPicPr>
        <p:blipFill>
          <a:blip r:embed="rId3">
            <a:alphaModFix/>
          </a:blip>
          <a:stretch>
            <a:fillRect/>
          </a:stretch>
        </p:blipFill>
        <p:spPr>
          <a:xfrm>
            <a:off x="0" y="0"/>
            <a:ext cx="9144000" cy="4397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25" y="500925"/>
            <a:ext cx="8520600" cy="62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Navegación y UX (Experiencia de Usuario)</a:t>
            </a:r>
            <a:endParaRPr/>
          </a:p>
          <a:p>
            <a:pPr indent="0" lvl="0" marL="0" rtl="0" algn="l">
              <a:spcBef>
                <a:spcPts val="0"/>
              </a:spcBef>
              <a:spcAft>
                <a:spcPts val="0"/>
              </a:spcAft>
              <a:buNone/>
            </a:pPr>
            <a:r>
              <a:t/>
            </a:r>
            <a:endParaRPr/>
          </a:p>
        </p:txBody>
      </p:sp>
      <p:sp>
        <p:nvSpPr>
          <p:cNvPr id="112" name="Google Shape;112;p20"/>
          <p:cNvSpPr txBox="1"/>
          <p:nvPr>
            <p:ph idx="1" type="body"/>
          </p:nvPr>
        </p:nvSpPr>
        <p:spPr>
          <a:xfrm>
            <a:off x="311725" y="1807575"/>
            <a:ext cx="3999900" cy="2824500"/>
          </a:xfrm>
          <a:prstGeom prst="rect">
            <a:avLst/>
          </a:prstGeom>
        </p:spPr>
        <p:txBody>
          <a:bodyPr anchorCtr="0" anchor="t" bIns="91425" lIns="91425" spcFirstLastPara="1" rIns="91425" wrap="square" tIns="91425">
            <a:normAutofit/>
          </a:bodyPr>
          <a:lstStyle/>
          <a:p>
            <a:pPr indent="-311150" lvl="0" marL="457200" rtl="0" algn="just">
              <a:spcBef>
                <a:spcPts val="0"/>
              </a:spcBef>
              <a:spcAft>
                <a:spcPts val="0"/>
              </a:spcAft>
              <a:buSzPts val="1300"/>
              <a:buChar char="●"/>
            </a:pPr>
            <a:r>
              <a:rPr lang="es"/>
              <a:t>Patrón de lectura en "F": El ojo viaja de los resúmenes macro en la izquierda hacia el detalle analítico en la derecha y abajo.</a:t>
            </a:r>
            <a:endParaRPr/>
          </a:p>
          <a:p>
            <a:pPr indent="0" lvl="0" marL="0" rtl="0" algn="just">
              <a:spcBef>
                <a:spcPts val="1200"/>
              </a:spcBef>
              <a:spcAft>
                <a:spcPts val="0"/>
              </a:spcAft>
              <a:buNone/>
            </a:pPr>
            <a:r>
              <a:t/>
            </a:r>
            <a:endParaRPr/>
          </a:p>
          <a:p>
            <a:pPr indent="-311150" lvl="0" marL="457200" rtl="0" algn="just">
              <a:spcBef>
                <a:spcPts val="1200"/>
              </a:spcBef>
              <a:spcAft>
                <a:spcPts val="0"/>
              </a:spcAft>
              <a:buSzPts val="1300"/>
              <a:buChar char="●"/>
            </a:pPr>
            <a:r>
              <a:rPr lang="es"/>
              <a:t>Paneles ancla: Columna lateral fija que evita la saturación cognitiva, mostrando el panorama global antes de que el usuario interactúe con el centro del lienzo.</a:t>
            </a:r>
            <a:endParaRPr/>
          </a:p>
        </p:txBody>
      </p:sp>
      <p:pic>
        <p:nvPicPr>
          <p:cNvPr id="113" name="Google Shape;113;p20" title="Captura de pantalla 2026-10-11 165746.png"/>
          <p:cNvPicPr preferRelativeResize="0"/>
          <p:nvPr/>
        </p:nvPicPr>
        <p:blipFill>
          <a:blip r:embed="rId3">
            <a:alphaModFix/>
          </a:blip>
          <a:stretch>
            <a:fillRect/>
          </a:stretch>
        </p:blipFill>
        <p:spPr>
          <a:xfrm>
            <a:off x="5105325" y="1342175"/>
            <a:ext cx="3464707" cy="1871525"/>
          </a:xfrm>
          <a:prstGeom prst="rect">
            <a:avLst/>
          </a:prstGeom>
          <a:noFill/>
          <a:ln>
            <a:noFill/>
          </a:ln>
        </p:spPr>
      </p:pic>
      <p:pic>
        <p:nvPicPr>
          <p:cNvPr id="114" name="Google Shape;114;p20" title="Captura de pantalla 2026-10-11 172057.png"/>
          <p:cNvPicPr preferRelativeResize="0"/>
          <p:nvPr/>
        </p:nvPicPr>
        <p:blipFill>
          <a:blip r:embed="rId4">
            <a:alphaModFix/>
          </a:blip>
          <a:stretch>
            <a:fillRect/>
          </a:stretch>
        </p:blipFill>
        <p:spPr>
          <a:xfrm>
            <a:off x="5125563" y="3213700"/>
            <a:ext cx="3424217" cy="1871525"/>
          </a:xfrm>
          <a:prstGeom prst="rect">
            <a:avLst/>
          </a:prstGeom>
          <a:noFill/>
          <a:ln>
            <a:noFill/>
          </a:ln>
        </p:spPr>
      </p:pic>
      <p:sp>
        <p:nvSpPr>
          <p:cNvPr id="115" name="Google Shape;115;p20"/>
          <p:cNvSpPr txBox="1"/>
          <p:nvPr/>
        </p:nvSpPr>
        <p:spPr>
          <a:xfrm>
            <a:off x="5233200" y="4008375"/>
            <a:ext cx="3576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800">
                <a:solidFill>
                  <a:srgbClr val="274E13"/>
                </a:solidFill>
                <a:latin typeface="Impact"/>
                <a:ea typeface="Impact"/>
                <a:cs typeface="Impact"/>
                <a:sym typeface="Impact"/>
              </a:rPr>
              <a:t>1</a:t>
            </a:r>
            <a:endParaRPr b="1" sz="2800">
              <a:solidFill>
                <a:srgbClr val="274E13"/>
              </a:solidFill>
              <a:latin typeface="Impact"/>
              <a:ea typeface="Impact"/>
              <a:cs typeface="Impact"/>
              <a:sym typeface="Impact"/>
            </a:endParaRPr>
          </a:p>
        </p:txBody>
      </p:sp>
      <p:sp>
        <p:nvSpPr>
          <p:cNvPr id="116" name="Google Shape;116;p20"/>
          <p:cNvSpPr txBox="1"/>
          <p:nvPr/>
        </p:nvSpPr>
        <p:spPr>
          <a:xfrm>
            <a:off x="6794550" y="3618075"/>
            <a:ext cx="3576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800">
                <a:solidFill>
                  <a:srgbClr val="274E13"/>
                </a:solidFill>
                <a:latin typeface="Impact"/>
                <a:ea typeface="Impact"/>
                <a:cs typeface="Impact"/>
                <a:sym typeface="Impact"/>
              </a:rPr>
              <a:t>2</a:t>
            </a:r>
            <a:endParaRPr b="1" sz="2800">
              <a:solidFill>
                <a:srgbClr val="274E13"/>
              </a:solidFill>
              <a:latin typeface="Impact"/>
              <a:ea typeface="Impact"/>
              <a:cs typeface="Impact"/>
              <a:sym typeface="Impact"/>
            </a:endParaRPr>
          </a:p>
        </p:txBody>
      </p:sp>
      <p:sp>
        <p:nvSpPr>
          <p:cNvPr id="117" name="Google Shape;117;p20"/>
          <p:cNvSpPr txBox="1"/>
          <p:nvPr/>
        </p:nvSpPr>
        <p:spPr>
          <a:xfrm>
            <a:off x="6794550" y="4461525"/>
            <a:ext cx="3576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800">
                <a:solidFill>
                  <a:srgbClr val="274E13"/>
                </a:solidFill>
                <a:latin typeface="Impact"/>
                <a:ea typeface="Impact"/>
                <a:cs typeface="Impact"/>
                <a:sym typeface="Impact"/>
              </a:rPr>
              <a:t>3</a:t>
            </a:r>
            <a:endParaRPr b="1" sz="2800">
              <a:solidFill>
                <a:srgbClr val="274E13"/>
              </a:solidFill>
              <a:latin typeface="Impact"/>
              <a:ea typeface="Impact"/>
              <a:cs typeface="Impact"/>
              <a:sym typeface="Impact"/>
            </a:endParaRPr>
          </a:p>
        </p:txBody>
      </p:sp>
      <p:sp>
        <p:nvSpPr>
          <p:cNvPr id="118" name="Google Shape;118;p20"/>
          <p:cNvSpPr txBox="1"/>
          <p:nvPr/>
        </p:nvSpPr>
        <p:spPr>
          <a:xfrm>
            <a:off x="5233200" y="2183700"/>
            <a:ext cx="3576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800">
                <a:solidFill>
                  <a:srgbClr val="274E13"/>
                </a:solidFill>
                <a:latin typeface="Impact"/>
                <a:ea typeface="Impact"/>
                <a:cs typeface="Impact"/>
                <a:sym typeface="Impact"/>
              </a:rPr>
              <a:t>1</a:t>
            </a:r>
            <a:endParaRPr b="1" sz="2800">
              <a:solidFill>
                <a:srgbClr val="274E13"/>
              </a:solidFill>
              <a:latin typeface="Impact"/>
              <a:ea typeface="Impact"/>
              <a:cs typeface="Impact"/>
              <a:sym typeface="Impact"/>
            </a:endParaRPr>
          </a:p>
        </p:txBody>
      </p:sp>
      <p:sp>
        <p:nvSpPr>
          <p:cNvPr id="119" name="Google Shape;119;p20"/>
          <p:cNvSpPr txBox="1"/>
          <p:nvPr/>
        </p:nvSpPr>
        <p:spPr>
          <a:xfrm>
            <a:off x="6658875" y="1722950"/>
            <a:ext cx="3576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800">
                <a:solidFill>
                  <a:srgbClr val="274E13"/>
                </a:solidFill>
                <a:latin typeface="Impact"/>
                <a:ea typeface="Impact"/>
                <a:cs typeface="Impact"/>
                <a:sym typeface="Impact"/>
              </a:rPr>
              <a:t>2</a:t>
            </a:r>
            <a:endParaRPr b="1" sz="2800">
              <a:solidFill>
                <a:srgbClr val="274E13"/>
              </a:solidFill>
              <a:latin typeface="Impact"/>
              <a:ea typeface="Impact"/>
              <a:cs typeface="Impact"/>
              <a:sym typeface="Impact"/>
            </a:endParaRPr>
          </a:p>
        </p:txBody>
      </p:sp>
      <p:sp>
        <p:nvSpPr>
          <p:cNvPr id="120" name="Google Shape;120;p20"/>
          <p:cNvSpPr txBox="1"/>
          <p:nvPr/>
        </p:nvSpPr>
        <p:spPr>
          <a:xfrm>
            <a:off x="6658875" y="2522400"/>
            <a:ext cx="357600" cy="62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800">
                <a:solidFill>
                  <a:srgbClr val="274E13"/>
                </a:solidFill>
                <a:latin typeface="Impact"/>
                <a:ea typeface="Impact"/>
                <a:cs typeface="Impact"/>
                <a:sym typeface="Impact"/>
              </a:rPr>
              <a:t>3</a:t>
            </a:r>
            <a:endParaRPr b="1" sz="2800">
              <a:solidFill>
                <a:srgbClr val="274E13"/>
              </a:solidFill>
              <a:latin typeface="Impact"/>
              <a:ea typeface="Impact"/>
              <a:cs typeface="Impact"/>
              <a:sym typeface="Impac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p:nvPr/>
        </p:nvSpPr>
        <p:spPr>
          <a:xfrm>
            <a:off x="4776825" y="1338850"/>
            <a:ext cx="4190100" cy="1591200"/>
          </a:xfrm>
          <a:prstGeom prst="rect">
            <a:avLst/>
          </a:prstGeom>
          <a:solidFill>
            <a:srgbClr val="31394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26" name="Google Shape;126;p2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KPIs (Indicadores Clave) </a:t>
            </a:r>
            <a:endParaRPr/>
          </a:p>
        </p:txBody>
      </p:sp>
      <p:sp>
        <p:nvSpPr>
          <p:cNvPr id="127" name="Google Shape;127;p21"/>
          <p:cNvSpPr txBox="1"/>
          <p:nvPr>
            <p:ph idx="1" type="body"/>
          </p:nvPr>
        </p:nvSpPr>
        <p:spPr>
          <a:xfrm>
            <a:off x="89700" y="1919038"/>
            <a:ext cx="3999900" cy="2749800"/>
          </a:xfrm>
          <a:prstGeom prst="rect">
            <a:avLst/>
          </a:prstGeom>
        </p:spPr>
        <p:txBody>
          <a:bodyPr anchorCtr="0" anchor="t" bIns="91425" lIns="91425" spcFirstLastPara="1" rIns="91425" wrap="square" tIns="91425">
            <a:normAutofit/>
          </a:bodyPr>
          <a:lstStyle/>
          <a:p>
            <a:pPr indent="-311150" lvl="0" marL="457200" rtl="0" algn="just">
              <a:spcBef>
                <a:spcPts val="0"/>
              </a:spcBef>
              <a:spcAft>
                <a:spcPts val="0"/>
              </a:spcAft>
              <a:buSzPts val="1300"/>
              <a:buChar char="●"/>
            </a:pPr>
            <a:r>
              <a:rPr lang="es"/>
              <a:t>Enfoque Financiero: Ganancia neta actual, Presupuesto 2025 y Retorno de Inversión (ROI) frente al mercado.</a:t>
            </a:r>
            <a:endParaRPr/>
          </a:p>
          <a:p>
            <a:pPr indent="0" lvl="0" marL="0" rtl="0" algn="just">
              <a:spcBef>
                <a:spcPts val="1200"/>
              </a:spcBef>
              <a:spcAft>
                <a:spcPts val="0"/>
              </a:spcAft>
              <a:buNone/>
            </a:pPr>
            <a:r>
              <a:t/>
            </a:r>
            <a:endParaRPr/>
          </a:p>
          <a:p>
            <a:pPr indent="-311150" lvl="0" marL="457200" rtl="0" algn="just">
              <a:spcBef>
                <a:spcPts val="1200"/>
              </a:spcBef>
              <a:spcAft>
                <a:spcPts val="0"/>
              </a:spcAft>
              <a:buSzPts val="1300"/>
              <a:buChar char="●"/>
            </a:pPr>
            <a:r>
              <a:rPr lang="es"/>
              <a:t>Enfoque de Audiencia: Volumen de producciones, Rating promedio acumulado y líderes cualitativos (género/título).</a:t>
            </a:r>
            <a:endParaRPr/>
          </a:p>
        </p:txBody>
      </p:sp>
      <p:pic>
        <p:nvPicPr>
          <p:cNvPr id="128" name="Google Shape;128;p21"/>
          <p:cNvPicPr preferRelativeResize="0"/>
          <p:nvPr/>
        </p:nvPicPr>
        <p:blipFill>
          <a:blip r:embed="rId3">
            <a:alphaModFix/>
          </a:blip>
          <a:stretch>
            <a:fillRect/>
          </a:stretch>
        </p:blipFill>
        <p:spPr>
          <a:xfrm>
            <a:off x="5279487" y="1523175"/>
            <a:ext cx="865235" cy="501435"/>
          </a:xfrm>
          <a:prstGeom prst="rect">
            <a:avLst/>
          </a:prstGeom>
          <a:noFill/>
          <a:ln>
            <a:noFill/>
          </a:ln>
        </p:spPr>
      </p:pic>
      <p:sp>
        <p:nvSpPr>
          <p:cNvPr id="129" name="Google Shape;129;p21"/>
          <p:cNvSpPr/>
          <p:nvPr/>
        </p:nvSpPr>
        <p:spPr>
          <a:xfrm>
            <a:off x="4089600" y="2177275"/>
            <a:ext cx="579600" cy="19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66666"/>
              </a:solidFill>
              <a:latin typeface="Roboto"/>
              <a:ea typeface="Roboto"/>
              <a:cs typeface="Roboto"/>
              <a:sym typeface="Roboto"/>
            </a:endParaRPr>
          </a:p>
        </p:txBody>
      </p:sp>
      <p:sp>
        <p:nvSpPr>
          <p:cNvPr id="130" name="Google Shape;130;p21"/>
          <p:cNvSpPr/>
          <p:nvPr/>
        </p:nvSpPr>
        <p:spPr>
          <a:xfrm>
            <a:off x="4776800" y="2930050"/>
            <a:ext cx="4190100" cy="1591200"/>
          </a:xfrm>
          <a:prstGeom prst="rect">
            <a:avLst/>
          </a:prstGeom>
          <a:solidFill>
            <a:srgbClr val="31394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131" name="Google Shape;131;p21"/>
          <p:cNvSpPr/>
          <p:nvPr/>
        </p:nvSpPr>
        <p:spPr>
          <a:xfrm>
            <a:off x="4089600" y="3472425"/>
            <a:ext cx="579600" cy="197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66666"/>
              </a:solidFill>
              <a:latin typeface="Roboto"/>
              <a:ea typeface="Roboto"/>
              <a:cs typeface="Roboto"/>
              <a:sym typeface="Roboto"/>
            </a:endParaRPr>
          </a:p>
        </p:txBody>
      </p:sp>
      <p:pic>
        <p:nvPicPr>
          <p:cNvPr id="132" name="Google Shape;132;p21"/>
          <p:cNvPicPr preferRelativeResize="0"/>
          <p:nvPr/>
        </p:nvPicPr>
        <p:blipFill>
          <a:blip r:embed="rId4">
            <a:alphaModFix/>
          </a:blip>
          <a:stretch>
            <a:fillRect/>
          </a:stretch>
        </p:blipFill>
        <p:spPr>
          <a:xfrm>
            <a:off x="5279487" y="2177275"/>
            <a:ext cx="865235" cy="501435"/>
          </a:xfrm>
          <a:prstGeom prst="rect">
            <a:avLst/>
          </a:prstGeom>
          <a:noFill/>
          <a:ln>
            <a:noFill/>
          </a:ln>
        </p:spPr>
      </p:pic>
      <p:pic>
        <p:nvPicPr>
          <p:cNvPr id="133" name="Google Shape;133;p21"/>
          <p:cNvPicPr preferRelativeResize="0"/>
          <p:nvPr/>
        </p:nvPicPr>
        <p:blipFill>
          <a:blip r:embed="rId5">
            <a:alphaModFix/>
          </a:blip>
          <a:stretch>
            <a:fillRect/>
          </a:stretch>
        </p:blipFill>
        <p:spPr>
          <a:xfrm>
            <a:off x="6424120" y="1523175"/>
            <a:ext cx="2151098" cy="1168625"/>
          </a:xfrm>
          <a:prstGeom prst="rect">
            <a:avLst/>
          </a:prstGeom>
          <a:noFill/>
          <a:ln>
            <a:noFill/>
          </a:ln>
        </p:spPr>
      </p:pic>
      <p:pic>
        <p:nvPicPr>
          <p:cNvPr id="134" name="Google Shape;134;p21"/>
          <p:cNvPicPr preferRelativeResize="0"/>
          <p:nvPr/>
        </p:nvPicPr>
        <p:blipFill>
          <a:blip r:embed="rId6">
            <a:alphaModFix/>
          </a:blip>
          <a:stretch>
            <a:fillRect/>
          </a:stretch>
        </p:blipFill>
        <p:spPr>
          <a:xfrm>
            <a:off x="4933566" y="3059013"/>
            <a:ext cx="951678" cy="469850"/>
          </a:xfrm>
          <a:prstGeom prst="rect">
            <a:avLst/>
          </a:prstGeom>
          <a:noFill/>
          <a:ln>
            <a:noFill/>
          </a:ln>
        </p:spPr>
      </p:pic>
      <p:pic>
        <p:nvPicPr>
          <p:cNvPr id="135" name="Google Shape;135;p21"/>
          <p:cNvPicPr preferRelativeResize="0"/>
          <p:nvPr/>
        </p:nvPicPr>
        <p:blipFill>
          <a:blip r:embed="rId7">
            <a:alphaModFix/>
          </a:blip>
          <a:stretch>
            <a:fillRect/>
          </a:stretch>
        </p:blipFill>
        <p:spPr>
          <a:xfrm>
            <a:off x="4933580" y="3583825"/>
            <a:ext cx="951677" cy="838764"/>
          </a:xfrm>
          <a:prstGeom prst="rect">
            <a:avLst/>
          </a:prstGeom>
          <a:noFill/>
          <a:ln>
            <a:noFill/>
          </a:ln>
        </p:spPr>
      </p:pic>
      <p:pic>
        <p:nvPicPr>
          <p:cNvPr id="136" name="Google Shape;136;p21"/>
          <p:cNvPicPr preferRelativeResize="0"/>
          <p:nvPr/>
        </p:nvPicPr>
        <p:blipFill>
          <a:blip r:embed="rId8">
            <a:alphaModFix/>
          </a:blip>
          <a:stretch>
            <a:fillRect/>
          </a:stretch>
        </p:blipFill>
        <p:spPr>
          <a:xfrm>
            <a:off x="6144706" y="3043225"/>
            <a:ext cx="2430502" cy="623700"/>
          </a:xfrm>
          <a:prstGeom prst="rect">
            <a:avLst/>
          </a:prstGeom>
          <a:noFill/>
          <a:ln>
            <a:noFill/>
          </a:ln>
        </p:spPr>
      </p:pic>
      <p:pic>
        <p:nvPicPr>
          <p:cNvPr id="137" name="Google Shape;137;p21"/>
          <p:cNvPicPr preferRelativeResize="0"/>
          <p:nvPr/>
        </p:nvPicPr>
        <p:blipFill>
          <a:blip r:embed="rId9">
            <a:alphaModFix/>
          </a:blip>
          <a:stretch>
            <a:fillRect/>
          </a:stretch>
        </p:blipFill>
        <p:spPr>
          <a:xfrm>
            <a:off x="6144706" y="3780100"/>
            <a:ext cx="2430502" cy="623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p:nvPr/>
        </p:nvSpPr>
        <p:spPr>
          <a:xfrm>
            <a:off x="6750350" y="0"/>
            <a:ext cx="2392800" cy="1595400"/>
          </a:xfrm>
          <a:prstGeom prst="rect">
            <a:avLst/>
          </a:prstGeom>
          <a:solidFill>
            <a:srgbClr val="31394D"/>
          </a:solidFill>
          <a:ln cap="flat" cmpd="sng" w="6525">
            <a:solidFill>
              <a:schemeClr val="dk2"/>
            </a:solidFill>
            <a:prstDash val="solid"/>
            <a:round/>
            <a:headEnd len="sm" w="sm" type="none"/>
            <a:tailEnd len="sm" w="sm" type="none"/>
          </a:ln>
        </p:spPr>
        <p:txBody>
          <a:bodyPr anchorCtr="0" anchor="ctr" bIns="62725" lIns="62725" spcFirstLastPara="1" rIns="62725" wrap="square" tIns="62725">
            <a:noAutofit/>
          </a:bodyPr>
          <a:lstStyle/>
          <a:p>
            <a:pPr indent="0" lvl="0" marL="0" rtl="0" algn="ctr">
              <a:spcBef>
                <a:spcPts val="0"/>
              </a:spcBef>
              <a:spcAft>
                <a:spcPts val="0"/>
              </a:spcAft>
              <a:buNone/>
            </a:pPr>
            <a:r>
              <a:t/>
            </a:r>
            <a:endParaRPr sz="960">
              <a:solidFill>
                <a:schemeClr val="lt1"/>
              </a:solidFill>
              <a:latin typeface="Roboto"/>
              <a:ea typeface="Roboto"/>
              <a:cs typeface="Roboto"/>
              <a:sym typeface="Roboto"/>
            </a:endParaRPr>
          </a:p>
        </p:txBody>
      </p:sp>
      <p:sp>
        <p:nvSpPr>
          <p:cNvPr id="143" name="Google Shape;143;p22"/>
          <p:cNvSpPr txBox="1"/>
          <p:nvPr>
            <p:ph type="title"/>
          </p:nvPr>
        </p:nvSpPr>
        <p:spPr>
          <a:xfrm>
            <a:off x="311725" y="500925"/>
            <a:ext cx="2392800" cy="120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Gráficos Estratégicos </a:t>
            </a:r>
            <a:r>
              <a:rPr lang="es"/>
              <a:t> </a:t>
            </a:r>
            <a:endParaRPr/>
          </a:p>
        </p:txBody>
      </p:sp>
      <p:sp>
        <p:nvSpPr>
          <p:cNvPr id="144" name="Google Shape;144;p22"/>
          <p:cNvSpPr txBox="1"/>
          <p:nvPr/>
        </p:nvSpPr>
        <p:spPr>
          <a:xfrm>
            <a:off x="3851750" y="95825"/>
            <a:ext cx="28404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000">
                <a:solidFill>
                  <a:schemeClr val="lt2"/>
                </a:solidFill>
                <a:latin typeface="Roboto"/>
                <a:ea typeface="Roboto"/>
                <a:cs typeface="Roboto"/>
                <a:sym typeface="Roboto"/>
              </a:rPr>
              <a:t>Medidores de Cumplimiento:</a:t>
            </a:r>
            <a:r>
              <a:rPr lang="es" sz="1000">
                <a:solidFill>
                  <a:schemeClr val="lt2"/>
                </a:solidFill>
                <a:latin typeface="Roboto"/>
                <a:ea typeface="Roboto"/>
                <a:cs typeface="Roboto"/>
                <a:sym typeface="Roboto"/>
              </a:rPr>
              <a:t> </a:t>
            </a:r>
            <a:r>
              <a:rPr lang="es" sz="1000">
                <a:solidFill>
                  <a:schemeClr val="lt2"/>
                </a:solidFill>
                <a:latin typeface="Roboto"/>
                <a:ea typeface="Roboto"/>
                <a:cs typeface="Roboto"/>
                <a:sym typeface="Roboto"/>
              </a:rPr>
              <a:t>Para seguimiento</a:t>
            </a:r>
            <a:r>
              <a:rPr lang="es" sz="1000">
                <a:solidFill>
                  <a:schemeClr val="lt2"/>
                </a:solidFill>
                <a:latin typeface="Roboto"/>
                <a:ea typeface="Roboto"/>
                <a:cs typeface="Roboto"/>
                <a:sym typeface="Roboto"/>
              </a:rPr>
              <a:t> del ritmo de ingresos y ratings de 2025 frente al cierre total de 2024.</a:t>
            </a:r>
            <a:endParaRPr sz="1000">
              <a:solidFill>
                <a:schemeClr val="lt2"/>
              </a:solidFill>
              <a:latin typeface="Roboto"/>
              <a:ea typeface="Roboto"/>
              <a:cs typeface="Roboto"/>
              <a:sym typeface="Roboto"/>
            </a:endParaRPr>
          </a:p>
          <a:p>
            <a:pPr indent="0" lvl="0" marL="0" rtl="0" algn="l">
              <a:spcBef>
                <a:spcPts val="0"/>
              </a:spcBef>
              <a:spcAft>
                <a:spcPts val="0"/>
              </a:spcAft>
              <a:buNone/>
            </a:pPr>
            <a:r>
              <a:rPr b="1" lang="es" sz="1000">
                <a:solidFill>
                  <a:schemeClr val="lt2"/>
                </a:solidFill>
                <a:latin typeface="Roboto"/>
                <a:ea typeface="Roboto"/>
                <a:cs typeface="Roboto"/>
                <a:sym typeface="Roboto"/>
              </a:rPr>
              <a:t>Líneas Temporales:</a:t>
            </a:r>
            <a:r>
              <a:rPr lang="es" sz="1000">
                <a:solidFill>
                  <a:schemeClr val="lt2"/>
                </a:solidFill>
                <a:latin typeface="Roboto"/>
                <a:ea typeface="Roboto"/>
                <a:cs typeface="Roboto"/>
                <a:sym typeface="Roboto"/>
              </a:rPr>
              <a:t> Para proyectar y comparar el comportamiento evolutivo.</a:t>
            </a:r>
            <a:endParaRPr sz="1000">
              <a:solidFill>
                <a:schemeClr val="lt2"/>
              </a:solidFill>
              <a:latin typeface="Roboto"/>
              <a:ea typeface="Roboto"/>
              <a:cs typeface="Roboto"/>
              <a:sym typeface="Roboto"/>
            </a:endParaRPr>
          </a:p>
          <a:p>
            <a:pPr indent="0" lvl="0" marL="0" rtl="0" algn="l">
              <a:spcBef>
                <a:spcPts val="0"/>
              </a:spcBef>
              <a:spcAft>
                <a:spcPts val="0"/>
              </a:spcAft>
              <a:buNone/>
            </a:pPr>
            <a:r>
              <a:rPr b="1" lang="es" sz="1000">
                <a:solidFill>
                  <a:schemeClr val="lt2"/>
                </a:solidFill>
                <a:latin typeface="Roboto"/>
                <a:ea typeface="Roboto"/>
                <a:cs typeface="Roboto"/>
                <a:sym typeface="Roboto"/>
              </a:rPr>
              <a:t>Barras (Verticales y Horizontales):</a:t>
            </a:r>
            <a:r>
              <a:rPr lang="es" sz="1000">
                <a:solidFill>
                  <a:schemeClr val="lt2"/>
                </a:solidFill>
                <a:latin typeface="Roboto"/>
                <a:ea typeface="Roboto"/>
                <a:cs typeface="Roboto"/>
                <a:sym typeface="Roboto"/>
              </a:rPr>
              <a:t> Para identificar rápidamente los mejores mercados, géneros y películas sin muros de texto.</a:t>
            </a:r>
            <a:endParaRPr sz="1000">
              <a:solidFill>
                <a:schemeClr val="lt2"/>
              </a:solidFill>
              <a:latin typeface="Roboto"/>
              <a:ea typeface="Roboto"/>
              <a:cs typeface="Roboto"/>
              <a:sym typeface="Roboto"/>
            </a:endParaRPr>
          </a:p>
        </p:txBody>
      </p:sp>
      <p:sp>
        <p:nvSpPr>
          <p:cNvPr id="145" name="Google Shape;145;p22"/>
          <p:cNvSpPr txBox="1"/>
          <p:nvPr>
            <p:ph type="title"/>
          </p:nvPr>
        </p:nvSpPr>
        <p:spPr>
          <a:xfrm>
            <a:off x="311725" y="2071800"/>
            <a:ext cx="2392800" cy="120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Filtros Dinámicos</a:t>
            </a:r>
            <a:endParaRPr/>
          </a:p>
        </p:txBody>
      </p:sp>
      <p:sp>
        <p:nvSpPr>
          <p:cNvPr id="146" name="Google Shape;146;p22"/>
          <p:cNvSpPr txBox="1"/>
          <p:nvPr>
            <p:ph type="title"/>
          </p:nvPr>
        </p:nvSpPr>
        <p:spPr>
          <a:xfrm>
            <a:off x="311725" y="3642675"/>
            <a:ext cx="2392800" cy="1204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Herramientas y Tecnología </a:t>
            </a:r>
            <a:r>
              <a:rPr lang="es"/>
              <a:t>  </a:t>
            </a:r>
            <a:endParaRPr/>
          </a:p>
        </p:txBody>
      </p:sp>
      <p:sp>
        <p:nvSpPr>
          <p:cNvPr id="147" name="Google Shape;147;p22"/>
          <p:cNvSpPr txBox="1"/>
          <p:nvPr/>
        </p:nvSpPr>
        <p:spPr>
          <a:xfrm>
            <a:off x="3851775" y="1863750"/>
            <a:ext cx="28404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000">
                <a:solidFill>
                  <a:schemeClr val="lt2"/>
                </a:solidFill>
                <a:latin typeface="Roboto"/>
                <a:ea typeface="Roboto"/>
                <a:cs typeface="Roboto"/>
                <a:sym typeface="Roboto"/>
              </a:rPr>
              <a:t>Financiero: </a:t>
            </a:r>
            <a:r>
              <a:rPr lang="es" sz="1000">
                <a:solidFill>
                  <a:schemeClr val="lt2"/>
                </a:solidFill>
                <a:latin typeface="Roboto"/>
                <a:ea typeface="Roboto"/>
                <a:cs typeface="Roboto"/>
                <a:sym typeface="Roboto"/>
              </a:rPr>
              <a:t>Segmentación geográfica para aislar regiones rentables.</a:t>
            </a:r>
            <a:endParaRPr b="1" sz="1000">
              <a:solidFill>
                <a:schemeClr val="lt2"/>
              </a:solidFill>
              <a:latin typeface="Roboto"/>
              <a:ea typeface="Roboto"/>
              <a:cs typeface="Roboto"/>
              <a:sym typeface="Roboto"/>
            </a:endParaRPr>
          </a:p>
          <a:p>
            <a:pPr indent="0" lvl="0" marL="0" rtl="0" algn="l">
              <a:spcBef>
                <a:spcPts val="0"/>
              </a:spcBef>
              <a:spcAft>
                <a:spcPts val="0"/>
              </a:spcAft>
              <a:buNone/>
            </a:pPr>
            <a:r>
              <a:rPr b="1" lang="es" sz="1000">
                <a:solidFill>
                  <a:schemeClr val="lt2"/>
                </a:solidFill>
                <a:latin typeface="Roboto"/>
                <a:ea typeface="Roboto"/>
                <a:cs typeface="Roboto"/>
                <a:sym typeface="Roboto"/>
              </a:rPr>
              <a:t>Contenidos:</a:t>
            </a:r>
            <a:r>
              <a:rPr lang="es" sz="1000">
                <a:solidFill>
                  <a:schemeClr val="lt2"/>
                </a:solidFill>
                <a:latin typeface="Roboto"/>
                <a:ea typeface="Roboto"/>
                <a:cs typeface="Roboto"/>
                <a:sym typeface="Roboto"/>
              </a:rPr>
              <a:t> Segmentación por formato para diseccionar el comportamiento de la audiencia.</a:t>
            </a:r>
            <a:endParaRPr b="1" sz="1000">
              <a:solidFill>
                <a:schemeClr val="lt2"/>
              </a:solidFill>
              <a:latin typeface="Roboto"/>
              <a:ea typeface="Roboto"/>
              <a:cs typeface="Roboto"/>
              <a:sym typeface="Roboto"/>
            </a:endParaRPr>
          </a:p>
          <a:p>
            <a:pPr indent="0" lvl="0" marL="0" rtl="0" algn="l">
              <a:spcBef>
                <a:spcPts val="0"/>
              </a:spcBef>
              <a:spcAft>
                <a:spcPts val="0"/>
              </a:spcAft>
              <a:buNone/>
            </a:pPr>
            <a:r>
              <a:rPr b="1" lang="es" sz="1000">
                <a:solidFill>
                  <a:schemeClr val="lt2"/>
                </a:solidFill>
                <a:latin typeface="Roboto"/>
                <a:ea typeface="Roboto"/>
                <a:cs typeface="Roboto"/>
                <a:sym typeface="Roboto"/>
              </a:rPr>
              <a:t>Efecto cruzado: </a:t>
            </a:r>
            <a:r>
              <a:rPr lang="es" sz="1000">
                <a:solidFill>
                  <a:schemeClr val="lt2"/>
                </a:solidFill>
                <a:latin typeface="Roboto"/>
                <a:ea typeface="Roboto"/>
                <a:cs typeface="Roboto"/>
                <a:sym typeface="Roboto"/>
              </a:rPr>
              <a:t>Al tocar cualquier elemento, todos los gráficos y KPIs se recalculan en tiempo real.</a:t>
            </a:r>
            <a:endParaRPr sz="1000">
              <a:solidFill>
                <a:schemeClr val="lt2"/>
              </a:solidFill>
              <a:latin typeface="Roboto"/>
              <a:ea typeface="Roboto"/>
              <a:cs typeface="Roboto"/>
              <a:sym typeface="Roboto"/>
            </a:endParaRPr>
          </a:p>
        </p:txBody>
      </p:sp>
      <p:sp>
        <p:nvSpPr>
          <p:cNvPr id="148" name="Google Shape;148;p22"/>
          <p:cNvSpPr txBox="1"/>
          <p:nvPr/>
        </p:nvSpPr>
        <p:spPr>
          <a:xfrm>
            <a:off x="3851750" y="3631675"/>
            <a:ext cx="28404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000">
                <a:solidFill>
                  <a:schemeClr val="lt2"/>
                </a:solidFill>
                <a:latin typeface="Roboto"/>
                <a:ea typeface="Roboto"/>
                <a:cs typeface="Roboto"/>
                <a:sym typeface="Roboto"/>
              </a:rPr>
              <a:t>Plataforma: </a:t>
            </a:r>
            <a:r>
              <a:rPr lang="es" sz="1000">
                <a:solidFill>
                  <a:schemeClr val="lt2"/>
                </a:solidFill>
                <a:latin typeface="Roboto"/>
                <a:ea typeface="Roboto"/>
                <a:cs typeface="Roboto"/>
                <a:sym typeface="Roboto"/>
              </a:rPr>
              <a:t>Desarrollado íntegramente en Power BI.</a:t>
            </a:r>
            <a:endParaRPr b="1" sz="1000">
              <a:solidFill>
                <a:schemeClr val="lt2"/>
              </a:solidFill>
              <a:latin typeface="Roboto"/>
              <a:ea typeface="Roboto"/>
              <a:cs typeface="Roboto"/>
              <a:sym typeface="Roboto"/>
            </a:endParaRPr>
          </a:p>
          <a:p>
            <a:pPr indent="0" lvl="0" marL="0" rtl="0" algn="l">
              <a:spcBef>
                <a:spcPts val="0"/>
              </a:spcBef>
              <a:spcAft>
                <a:spcPts val="0"/>
              </a:spcAft>
              <a:buNone/>
            </a:pPr>
            <a:r>
              <a:rPr b="1" lang="es" sz="1000">
                <a:solidFill>
                  <a:schemeClr val="lt2"/>
                </a:solidFill>
                <a:latin typeface="Roboto"/>
                <a:ea typeface="Roboto"/>
                <a:cs typeface="Roboto"/>
                <a:sym typeface="Roboto"/>
              </a:rPr>
              <a:t>Motor de cálculo: </a:t>
            </a:r>
            <a:r>
              <a:rPr lang="es" sz="1000">
                <a:solidFill>
                  <a:schemeClr val="lt2"/>
                </a:solidFill>
                <a:latin typeface="Roboto"/>
                <a:ea typeface="Roboto"/>
                <a:cs typeface="Roboto"/>
                <a:sym typeface="Roboto"/>
              </a:rPr>
              <a:t>Uso de lenguaje DAX avanzado (funciones como CALCULATE, ALL y REMOVEFILTERS) para aislar datos históricos y crear metas matemáticas precisas que no se rompan al usar los filtros de la página.</a:t>
            </a:r>
            <a:endParaRPr sz="1000">
              <a:solidFill>
                <a:schemeClr val="lt2"/>
              </a:solidFill>
              <a:latin typeface="Roboto"/>
              <a:ea typeface="Roboto"/>
              <a:cs typeface="Roboto"/>
              <a:sym typeface="Roboto"/>
            </a:endParaRPr>
          </a:p>
        </p:txBody>
      </p:sp>
      <p:sp>
        <p:nvSpPr>
          <p:cNvPr id="149" name="Google Shape;149;p22"/>
          <p:cNvSpPr/>
          <p:nvPr/>
        </p:nvSpPr>
        <p:spPr>
          <a:xfrm>
            <a:off x="6750350" y="1719000"/>
            <a:ext cx="2392800" cy="1595400"/>
          </a:xfrm>
          <a:prstGeom prst="rect">
            <a:avLst/>
          </a:prstGeom>
          <a:solidFill>
            <a:srgbClr val="31394D"/>
          </a:solidFill>
          <a:ln cap="flat" cmpd="sng" w="6525">
            <a:solidFill>
              <a:schemeClr val="dk2"/>
            </a:solidFill>
            <a:prstDash val="solid"/>
            <a:round/>
            <a:headEnd len="sm" w="sm" type="none"/>
            <a:tailEnd len="sm" w="sm" type="none"/>
          </a:ln>
        </p:spPr>
        <p:txBody>
          <a:bodyPr anchorCtr="0" anchor="ctr" bIns="62725" lIns="62725" spcFirstLastPara="1" rIns="62725" wrap="square" tIns="62725">
            <a:noAutofit/>
          </a:bodyPr>
          <a:lstStyle/>
          <a:p>
            <a:pPr indent="0" lvl="0" marL="0" rtl="0" algn="ctr">
              <a:spcBef>
                <a:spcPts val="0"/>
              </a:spcBef>
              <a:spcAft>
                <a:spcPts val="0"/>
              </a:spcAft>
              <a:buNone/>
            </a:pPr>
            <a:r>
              <a:t/>
            </a:r>
            <a:endParaRPr sz="960">
              <a:solidFill>
                <a:schemeClr val="lt1"/>
              </a:solidFill>
              <a:latin typeface="Roboto"/>
              <a:ea typeface="Roboto"/>
              <a:cs typeface="Roboto"/>
              <a:sym typeface="Roboto"/>
            </a:endParaRPr>
          </a:p>
        </p:txBody>
      </p:sp>
      <p:sp>
        <p:nvSpPr>
          <p:cNvPr id="150" name="Google Shape;150;p22"/>
          <p:cNvSpPr/>
          <p:nvPr/>
        </p:nvSpPr>
        <p:spPr>
          <a:xfrm>
            <a:off x="6750350" y="3438000"/>
            <a:ext cx="2392800" cy="1705500"/>
          </a:xfrm>
          <a:prstGeom prst="rect">
            <a:avLst/>
          </a:prstGeom>
          <a:solidFill>
            <a:srgbClr val="31394D"/>
          </a:solidFill>
          <a:ln cap="flat" cmpd="sng" w="6525">
            <a:solidFill>
              <a:schemeClr val="dk2"/>
            </a:solidFill>
            <a:prstDash val="solid"/>
            <a:round/>
            <a:headEnd len="sm" w="sm" type="none"/>
            <a:tailEnd len="sm" w="sm" type="none"/>
          </a:ln>
        </p:spPr>
        <p:txBody>
          <a:bodyPr anchorCtr="0" anchor="ctr" bIns="62725" lIns="62725" spcFirstLastPara="1" rIns="62725" wrap="square" tIns="62725">
            <a:noAutofit/>
          </a:bodyPr>
          <a:lstStyle/>
          <a:p>
            <a:pPr indent="0" lvl="0" marL="0" rtl="0" algn="ctr">
              <a:spcBef>
                <a:spcPts val="0"/>
              </a:spcBef>
              <a:spcAft>
                <a:spcPts val="0"/>
              </a:spcAft>
              <a:buNone/>
            </a:pPr>
            <a:r>
              <a:t/>
            </a:r>
            <a:endParaRPr sz="960">
              <a:solidFill>
                <a:schemeClr val="lt1"/>
              </a:solidFill>
              <a:latin typeface="Roboto"/>
              <a:ea typeface="Roboto"/>
              <a:cs typeface="Roboto"/>
              <a:sym typeface="Roboto"/>
            </a:endParaRPr>
          </a:p>
        </p:txBody>
      </p:sp>
      <p:pic>
        <p:nvPicPr>
          <p:cNvPr id="151" name="Google Shape;151;p22"/>
          <p:cNvPicPr preferRelativeResize="0"/>
          <p:nvPr/>
        </p:nvPicPr>
        <p:blipFill>
          <a:blip r:embed="rId3">
            <a:alphaModFix/>
          </a:blip>
          <a:stretch>
            <a:fillRect/>
          </a:stretch>
        </p:blipFill>
        <p:spPr>
          <a:xfrm>
            <a:off x="7109963" y="140100"/>
            <a:ext cx="731150" cy="615700"/>
          </a:xfrm>
          <a:prstGeom prst="rect">
            <a:avLst/>
          </a:prstGeom>
          <a:noFill/>
          <a:ln>
            <a:noFill/>
          </a:ln>
        </p:spPr>
      </p:pic>
      <p:pic>
        <p:nvPicPr>
          <p:cNvPr id="152" name="Google Shape;152;p22"/>
          <p:cNvPicPr preferRelativeResize="0"/>
          <p:nvPr/>
        </p:nvPicPr>
        <p:blipFill>
          <a:blip r:embed="rId4">
            <a:alphaModFix/>
          </a:blip>
          <a:stretch>
            <a:fillRect/>
          </a:stretch>
        </p:blipFill>
        <p:spPr>
          <a:xfrm>
            <a:off x="7948670" y="140099"/>
            <a:ext cx="834856" cy="615700"/>
          </a:xfrm>
          <a:prstGeom prst="rect">
            <a:avLst/>
          </a:prstGeom>
          <a:noFill/>
          <a:ln>
            <a:noFill/>
          </a:ln>
        </p:spPr>
      </p:pic>
      <p:pic>
        <p:nvPicPr>
          <p:cNvPr id="153" name="Google Shape;153;p22"/>
          <p:cNvPicPr preferRelativeResize="0"/>
          <p:nvPr/>
        </p:nvPicPr>
        <p:blipFill>
          <a:blip r:embed="rId5">
            <a:alphaModFix/>
          </a:blip>
          <a:stretch>
            <a:fillRect/>
          </a:stretch>
        </p:blipFill>
        <p:spPr>
          <a:xfrm>
            <a:off x="7109976" y="839600"/>
            <a:ext cx="1673550" cy="615700"/>
          </a:xfrm>
          <a:prstGeom prst="rect">
            <a:avLst/>
          </a:prstGeom>
          <a:noFill/>
          <a:ln>
            <a:noFill/>
          </a:ln>
        </p:spPr>
      </p:pic>
      <p:pic>
        <p:nvPicPr>
          <p:cNvPr id="154" name="Google Shape;154;p22"/>
          <p:cNvPicPr preferRelativeResize="0"/>
          <p:nvPr/>
        </p:nvPicPr>
        <p:blipFill>
          <a:blip r:embed="rId6">
            <a:alphaModFix/>
          </a:blip>
          <a:stretch>
            <a:fillRect/>
          </a:stretch>
        </p:blipFill>
        <p:spPr>
          <a:xfrm>
            <a:off x="6876125" y="3578100"/>
            <a:ext cx="2141250" cy="615700"/>
          </a:xfrm>
          <a:prstGeom prst="rect">
            <a:avLst/>
          </a:prstGeom>
          <a:noFill/>
          <a:ln>
            <a:noFill/>
          </a:ln>
        </p:spPr>
      </p:pic>
      <p:pic>
        <p:nvPicPr>
          <p:cNvPr id="155" name="Google Shape;155;p22"/>
          <p:cNvPicPr preferRelativeResize="0"/>
          <p:nvPr/>
        </p:nvPicPr>
        <p:blipFill>
          <a:blip r:embed="rId7">
            <a:alphaModFix/>
          </a:blip>
          <a:stretch>
            <a:fillRect/>
          </a:stretch>
        </p:blipFill>
        <p:spPr>
          <a:xfrm>
            <a:off x="6876126" y="4291473"/>
            <a:ext cx="2141250" cy="659227"/>
          </a:xfrm>
          <a:prstGeom prst="rect">
            <a:avLst/>
          </a:prstGeom>
          <a:noFill/>
          <a:ln>
            <a:noFill/>
          </a:ln>
        </p:spPr>
      </p:pic>
      <p:pic>
        <p:nvPicPr>
          <p:cNvPr id="156" name="Google Shape;156;p22"/>
          <p:cNvPicPr preferRelativeResize="0"/>
          <p:nvPr/>
        </p:nvPicPr>
        <p:blipFill>
          <a:blip r:embed="rId8">
            <a:alphaModFix/>
          </a:blip>
          <a:stretch>
            <a:fillRect/>
          </a:stretch>
        </p:blipFill>
        <p:spPr>
          <a:xfrm>
            <a:off x="6878294" y="1910625"/>
            <a:ext cx="731125" cy="372548"/>
          </a:xfrm>
          <a:prstGeom prst="rect">
            <a:avLst/>
          </a:prstGeom>
          <a:noFill/>
          <a:ln>
            <a:noFill/>
          </a:ln>
        </p:spPr>
      </p:pic>
      <p:pic>
        <p:nvPicPr>
          <p:cNvPr id="157" name="Google Shape;157;p22"/>
          <p:cNvPicPr preferRelativeResize="0"/>
          <p:nvPr/>
        </p:nvPicPr>
        <p:blipFill>
          <a:blip r:embed="rId9">
            <a:alphaModFix/>
          </a:blip>
          <a:stretch>
            <a:fillRect/>
          </a:stretch>
        </p:blipFill>
        <p:spPr>
          <a:xfrm>
            <a:off x="7713150" y="1910625"/>
            <a:ext cx="1292828" cy="1262100"/>
          </a:xfrm>
          <a:prstGeom prst="rect">
            <a:avLst/>
          </a:prstGeom>
          <a:noFill/>
          <a:ln>
            <a:noFill/>
          </a:ln>
        </p:spPr>
      </p:pic>
      <p:sp>
        <p:nvSpPr>
          <p:cNvPr id="158" name="Google Shape;158;p22"/>
          <p:cNvSpPr/>
          <p:nvPr/>
        </p:nvSpPr>
        <p:spPr>
          <a:xfrm rot="1450919">
            <a:off x="7732176" y="2749224"/>
            <a:ext cx="222637" cy="140181"/>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latin typeface="Roboto"/>
              <a:ea typeface="Roboto"/>
              <a:cs typeface="Roboto"/>
              <a:sym typeface="Roboto"/>
            </a:endParaRPr>
          </a:p>
        </p:txBody>
      </p:sp>
      <p:pic>
        <p:nvPicPr>
          <p:cNvPr id="159" name="Google Shape;159;p22"/>
          <p:cNvPicPr preferRelativeResize="0"/>
          <p:nvPr/>
        </p:nvPicPr>
        <p:blipFill>
          <a:blip r:embed="rId10">
            <a:alphaModFix/>
          </a:blip>
          <a:stretch>
            <a:fillRect/>
          </a:stretch>
        </p:blipFill>
        <p:spPr>
          <a:xfrm>
            <a:off x="6878299" y="2340200"/>
            <a:ext cx="731125" cy="832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3"/>
          <p:cNvPicPr preferRelativeResize="0"/>
          <p:nvPr/>
        </p:nvPicPr>
        <p:blipFill>
          <a:blip r:embed="rId3">
            <a:alphaModFix/>
          </a:blip>
          <a:stretch>
            <a:fillRect/>
          </a:stretch>
        </p:blipFill>
        <p:spPr>
          <a:xfrm>
            <a:off x="6454325" y="1287125"/>
            <a:ext cx="2591000" cy="1989176"/>
          </a:xfrm>
          <a:prstGeom prst="rect">
            <a:avLst/>
          </a:prstGeom>
          <a:noFill/>
          <a:ln>
            <a:noFill/>
          </a:ln>
        </p:spPr>
      </p:pic>
      <p:sp>
        <p:nvSpPr>
          <p:cNvPr id="165" name="Google Shape;165;p23"/>
          <p:cNvSpPr txBox="1"/>
          <p:nvPr>
            <p:ph type="title"/>
          </p:nvPr>
        </p:nvSpPr>
        <p:spPr>
          <a:xfrm>
            <a:off x="321300" y="742650"/>
            <a:ext cx="3127500" cy="182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Data </a:t>
            </a:r>
            <a:r>
              <a:rPr lang="es"/>
              <a:t>Storytelling</a:t>
            </a:r>
            <a:endParaRPr/>
          </a:p>
        </p:txBody>
      </p:sp>
      <p:pic>
        <p:nvPicPr>
          <p:cNvPr id="166" name="Google Shape;166;p23"/>
          <p:cNvPicPr preferRelativeResize="0"/>
          <p:nvPr/>
        </p:nvPicPr>
        <p:blipFill>
          <a:blip r:embed="rId4">
            <a:alphaModFix/>
          </a:blip>
          <a:stretch>
            <a:fillRect/>
          </a:stretch>
        </p:blipFill>
        <p:spPr>
          <a:xfrm>
            <a:off x="0" y="2592750"/>
            <a:ext cx="3770100" cy="2550750"/>
          </a:xfrm>
          <a:prstGeom prst="rect">
            <a:avLst/>
          </a:prstGeom>
          <a:noFill/>
          <a:ln>
            <a:noFill/>
          </a:ln>
        </p:spPr>
      </p:pic>
      <p:sp>
        <p:nvSpPr>
          <p:cNvPr id="167" name="Google Shape;167;p23"/>
          <p:cNvSpPr txBox="1"/>
          <p:nvPr/>
        </p:nvSpPr>
        <p:spPr>
          <a:xfrm>
            <a:off x="3930650" y="177075"/>
            <a:ext cx="4655400" cy="4805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000">
                <a:solidFill>
                  <a:schemeClr val="dk2"/>
                </a:solidFill>
                <a:latin typeface="Roboto"/>
                <a:ea typeface="Roboto"/>
                <a:cs typeface="Roboto"/>
                <a:sym typeface="Roboto"/>
              </a:rPr>
              <a:t>Dashboard de Resumen Financiero:</a:t>
            </a:r>
            <a:endParaRPr b="1" sz="1000">
              <a:solidFill>
                <a:schemeClr val="dk2"/>
              </a:solidFill>
              <a:latin typeface="Roboto"/>
              <a:ea typeface="Roboto"/>
              <a:cs typeface="Roboto"/>
              <a:sym typeface="Roboto"/>
            </a:endParaRPr>
          </a:p>
          <a:p>
            <a:pPr indent="0" lvl="0" marL="0" rtl="0" algn="just">
              <a:spcBef>
                <a:spcPts val="0"/>
              </a:spcBef>
              <a:spcAft>
                <a:spcPts val="0"/>
              </a:spcAft>
              <a:buNone/>
            </a:pPr>
            <a:r>
              <a:t/>
            </a:r>
            <a:endParaRPr b="1" sz="1000">
              <a:solidFill>
                <a:schemeClr val="dk2"/>
              </a:solidFill>
              <a:latin typeface="Roboto"/>
              <a:ea typeface="Roboto"/>
              <a:cs typeface="Roboto"/>
              <a:sym typeface="Roboto"/>
            </a:endParaRPr>
          </a:p>
          <a:p>
            <a:pPr indent="-292100" lvl="0" marL="457200" rtl="0" algn="just">
              <a:spcBef>
                <a:spcPts val="0"/>
              </a:spcBef>
              <a:spcAft>
                <a:spcPts val="0"/>
              </a:spcAft>
              <a:buClr>
                <a:schemeClr val="dk2"/>
              </a:buClr>
              <a:buSzPts val="1000"/>
              <a:buFont typeface="Roboto"/>
              <a:buChar char="●"/>
            </a:pPr>
            <a:r>
              <a:rPr lang="es" sz="1000">
                <a:solidFill>
                  <a:schemeClr val="dk2"/>
                </a:solidFill>
                <a:latin typeface="Roboto"/>
                <a:ea typeface="Roboto"/>
                <a:cs typeface="Roboto"/>
                <a:sym typeface="Roboto"/>
              </a:rPr>
              <a:t>En 2025 se  </a:t>
            </a:r>
            <a:r>
              <a:rPr lang="es" sz="1000">
                <a:solidFill>
                  <a:schemeClr val="dk2"/>
                </a:solidFill>
                <a:latin typeface="Roboto"/>
                <a:ea typeface="Roboto"/>
                <a:cs typeface="Roboto"/>
                <a:sym typeface="Roboto"/>
              </a:rPr>
              <a:t>alcanzó</a:t>
            </a:r>
            <a:r>
              <a:rPr lang="es" sz="1000">
                <a:solidFill>
                  <a:schemeClr val="dk2"/>
                </a:solidFill>
                <a:latin typeface="Roboto"/>
                <a:ea typeface="Roboto"/>
                <a:cs typeface="Roboto"/>
                <a:sym typeface="Roboto"/>
              </a:rPr>
              <a:t> 2,1 mil millones en ganancias netas.</a:t>
            </a:r>
            <a:endParaRPr sz="1000">
              <a:solidFill>
                <a:schemeClr val="dk2"/>
              </a:solidFill>
              <a:latin typeface="Roboto"/>
              <a:ea typeface="Roboto"/>
              <a:cs typeface="Roboto"/>
              <a:sym typeface="Roboto"/>
            </a:endParaRPr>
          </a:p>
          <a:p>
            <a:pPr indent="0" lvl="0" marL="457200" rtl="0" algn="just">
              <a:spcBef>
                <a:spcPts val="0"/>
              </a:spcBef>
              <a:spcAft>
                <a:spcPts val="0"/>
              </a:spcAft>
              <a:buNone/>
            </a:pPr>
            <a:r>
              <a:rPr lang="es" sz="1000">
                <a:solidFill>
                  <a:schemeClr val="dk2"/>
                </a:solidFill>
                <a:latin typeface="Roboto"/>
                <a:ea typeface="Roboto"/>
                <a:cs typeface="Roboto"/>
                <a:sym typeface="Roboto"/>
              </a:rPr>
              <a:t> </a:t>
            </a:r>
            <a:endParaRPr sz="1000">
              <a:solidFill>
                <a:schemeClr val="dk2"/>
              </a:solidFill>
              <a:latin typeface="Roboto"/>
              <a:ea typeface="Roboto"/>
              <a:cs typeface="Roboto"/>
              <a:sym typeface="Roboto"/>
            </a:endParaRPr>
          </a:p>
          <a:p>
            <a:pPr indent="-292100" lvl="0" marL="457200" rtl="0" algn="just">
              <a:spcBef>
                <a:spcPts val="0"/>
              </a:spcBef>
              <a:spcAft>
                <a:spcPts val="0"/>
              </a:spcAft>
              <a:buClr>
                <a:schemeClr val="dk2"/>
              </a:buClr>
              <a:buSzPts val="1000"/>
              <a:buFont typeface="Roboto"/>
              <a:buChar char="●"/>
            </a:pPr>
            <a:r>
              <a:rPr lang="es" sz="1000">
                <a:solidFill>
                  <a:schemeClr val="dk2"/>
                </a:solidFill>
                <a:latin typeface="Roboto"/>
                <a:ea typeface="Roboto"/>
                <a:cs typeface="Roboto"/>
                <a:sym typeface="Roboto"/>
              </a:rPr>
              <a:t>Dependencia casi exclusivamente de Estados Unidos.</a:t>
            </a:r>
            <a:endParaRPr sz="1000">
              <a:solidFill>
                <a:schemeClr val="dk2"/>
              </a:solidFill>
              <a:latin typeface="Roboto"/>
              <a:ea typeface="Roboto"/>
              <a:cs typeface="Roboto"/>
              <a:sym typeface="Roboto"/>
            </a:endParaRPr>
          </a:p>
          <a:p>
            <a:pPr indent="0" lvl="0" marL="457200" rtl="0" algn="just">
              <a:spcBef>
                <a:spcPts val="0"/>
              </a:spcBef>
              <a:spcAft>
                <a:spcPts val="0"/>
              </a:spcAft>
              <a:buNone/>
            </a:pPr>
            <a:r>
              <a:t/>
            </a:r>
            <a:endParaRPr sz="1000">
              <a:solidFill>
                <a:schemeClr val="dk2"/>
              </a:solidFill>
              <a:latin typeface="Roboto"/>
              <a:ea typeface="Roboto"/>
              <a:cs typeface="Roboto"/>
              <a:sym typeface="Roboto"/>
            </a:endParaRPr>
          </a:p>
          <a:p>
            <a:pPr indent="-292100" lvl="0" marL="457200" rtl="0" algn="just">
              <a:spcBef>
                <a:spcPts val="0"/>
              </a:spcBef>
              <a:spcAft>
                <a:spcPts val="0"/>
              </a:spcAft>
              <a:buClr>
                <a:schemeClr val="dk2"/>
              </a:buClr>
              <a:buSzPts val="1000"/>
              <a:buFont typeface="Roboto"/>
              <a:buChar char="●"/>
            </a:pPr>
            <a:r>
              <a:rPr lang="es" sz="1000">
                <a:solidFill>
                  <a:schemeClr val="dk2"/>
                </a:solidFill>
                <a:latin typeface="Roboto"/>
                <a:ea typeface="Roboto"/>
                <a:cs typeface="Roboto"/>
                <a:sym typeface="Roboto"/>
              </a:rPr>
              <a:t>La competencia directa está logrando un mayor retorno (ROI).</a:t>
            </a:r>
            <a:endParaRPr sz="1000">
              <a:solidFill>
                <a:schemeClr val="dk2"/>
              </a:solidFill>
              <a:latin typeface="Roboto"/>
              <a:ea typeface="Roboto"/>
              <a:cs typeface="Roboto"/>
              <a:sym typeface="Roboto"/>
            </a:endParaRPr>
          </a:p>
          <a:p>
            <a:pPr indent="0" lvl="0" marL="457200" rtl="0" algn="just">
              <a:spcBef>
                <a:spcPts val="0"/>
              </a:spcBef>
              <a:spcAft>
                <a:spcPts val="0"/>
              </a:spcAft>
              <a:buNone/>
            </a:pPr>
            <a:r>
              <a:rPr lang="es" sz="1000">
                <a:solidFill>
                  <a:schemeClr val="dk2"/>
                </a:solidFill>
                <a:latin typeface="Roboto"/>
                <a:ea typeface="Roboto"/>
                <a:cs typeface="Roboto"/>
                <a:sym typeface="Roboto"/>
              </a:rPr>
              <a:t> </a:t>
            </a:r>
            <a:endParaRPr sz="1000">
              <a:solidFill>
                <a:schemeClr val="dk2"/>
              </a:solidFill>
              <a:latin typeface="Roboto"/>
              <a:ea typeface="Roboto"/>
              <a:cs typeface="Roboto"/>
              <a:sym typeface="Roboto"/>
            </a:endParaRPr>
          </a:p>
          <a:p>
            <a:pPr indent="-292100" lvl="0" marL="457200" rtl="0" algn="just">
              <a:spcBef>
                <a:spcPts val="0"/>
              </a:spcBef>
              <a:spcAft>
                <a:spcPts val="0"/>
              </a:spcAft>
              <a:buClr>
                <a:schemeClr val="dk2"/>
              </a:buClr>
              <a:buSzPts val="1000"/>
              <a:buFont typeface="Roboto"/>
              <a:buChar char="●"/>
            </a:pPr>
            <a:r>
              <a:rPr lang="es" sz="1000">
                <a:solidFill>
                  <a:schemeClr val="dk2"/>
                </a:solidFill>
                <a:latin typeface="Roboto"/>
                <a:ea typeface="Roboto"/>
                <a:cs typeface="Roboto"/>
                <a:sym typeface="Roboto"/>
              </a:rPr>
              <a:t>El desafío financiero de 2025 no es vender más, sino gastar mejor.   </a:t>
            </a:r>
            <a:endParaRPr sz="1000">
              <a:solidFill>
                <a:schemeClr val="dk2"/>
              </a:solidFill>
              <a:latin typeface="Roboto"/>
              <a:ea typeface="Roboto"/>
              <a:cs typeface="Roboto"/>
              <a:sym typeface="Roboto"/>
            </a:endParaRPr>
          </a:p>
          <a:p>
            <a:pPr indent="0" lvl="0" marL="0" rtl="0" algn="just">
              <a:spcBef>
                <a:spcPts val="0"/>
              </a:spcBef>
              <a:spcAft>
                <a:spcPts val="0"/>
              </a:spcAft>
              <a:buNone/>
            </a:pPr>
            <a:r>
              <a:t/>
            </a:r>
            <a:endParaRPr sz="1000">
              <a:solidFill>
                <a:schemeClr val="dk2"/>
              </a:solidFill>
              <a:latin typeface="Roboto"/>
              <a:ea typeface="Roboto"/>
              <a:cs typeface="Roboto"/>
              <a:sym typeface="Roboto"/>
            </a:endParaRPr>
          </a:p>
          <a:p>
            <a:pPr indent="0" lvl="0" marL="0" rtl="0" algn="just">
              <a:spcBef>
                <a:spcPts val="0"/>
              </a:spcBef>
              <a:spcAft>
                <a:spcPts val="0"/>
              </a:spcAft>
              <a:buNone/>
            </a:pPr>
            <a:r>
              <a:t/>
            </a:r>
            <a:endParaRPr sz="1000">
              <a:solidFill>
                <a:schemeClr val="dk2"/>
              </a:solidFill>
              <a:latin typeface="Roboto"/>
              <a:ea typeface="Roboto"/>
              <a:cs typeface="Roboto"/>
              <a:sym typeface="Roboto"/>
            </a:endParaRPr>
          </a:p>
          <a:p>
            <a:pPr indent="0" lvl="0" marL="0" rtl="0" algn="just">
              <a:spcBef>
                <a:spcPts val="0"/>
              </a:spcBef>
              <a:spcAft>
                <a:spcPts val="0"/>
              </a:spcAft>
              <a:buNone/>
            </a:pPr>
            <a:r>
              <a:t/>
            </a:r>
            <a:endParaRPr sz="1000">
              <a:solidFill>
                <a:schemeClr val="dk2"/>
              </a:solidFill>
              <a:latin typeface="Roboto"/>
              <a:ea typeface="Roboto"/>
              <a:cs typeface="Roboto"/>
              <a:sym typeface="Roboto"/>
            </a:endParaRPr>
          </a:p>
          <a:p>
            <a:pPr indent="0" lvl="0" marL="0" rtl="0" algn="just">
              <a:spcBef>
                <a:spcPts val="0"/>
              </a:spcBef>
              <a:spcAft>
                <a:spcPts val="0"/>
              </a:spcAft>
              <a:buNone/>
            </a:pPr>
            <a:r>
              <a:t/>
            </a:r>
            <a:endParaRPr sz="1000">
              <a:solidFill>
                <a:schemeClr val="dk2"/>
              </a:solidFill>
              <a:latin typeface="Roboto"/>
              <a:ea typeface="Roboto"/>
              <a:cs typeface="Roboto"/>
              <a:sym typeface="Roboto"/>
            </a:endParaRPr>
          </a:p>
          <a:p>
            <a:pPr indent="0" lvl="0" marL="0" rtl="0" algn="just">
              <a:spcBef>
                <a:spcPts val="0"/>
              </a:spcBef>
              <a:spcAft>
                <a:spcPts val="0"/>
              </a:spcAft>
              <a:buNone/>
            </a:pPr>
            <a:r>
              <a:t/>
            </a:r>
            <a:endParaRPr sz="1000">
              <a:solidFill>
                <a:schemeClr val="dk2"/>
              </a:solidFill>
              <a:latin typeface="Roboto"/>
              <a:ea typeface="Roboto"/>
              <a:cs typeface="Roboto"/>
              <a:sym typeface="Roboto"/>
            </a:endParaRPr>
          </a:p>
          <a:p>
            <a:pPr indent="0" lvl="0" marL="0" rtl="0" algn="just">
              <a:spcBef>
                <a:spcPts val="0"/>
              </a:spcBef>
              <a:spcAft>
                <a:spcPts val="0"/>
              </a:spcAft>
              <a:buNone/>
            </a:pPr>
            <a:r>
              <a:t/>
            </a:r>
            <a:endParaRPr sz="1000">
              <a:solidFill>
                <a:schemeClr val="dk2"/>
              </a:solidFill>
              <a:latin typeface="Roboto"/>
              <a:ea typeface="Roboto"/>
              <a:cs typeface="Roboto"/>
              <a:sym typeface="Roboto"/>
            </a:endParaRPr>
          </a:p>
          <a:p>
            <a:pPr indent="0" lvl="0" marL="0" rtl="0" algn="just">
              <a:spcBef>
                <a:spcPts val="0"/>
              </a:spcBef>
              <a:spcAft>
                <a:spcPts val="0"/>
              </a:spcAft>
              <a:buNone/>
            </a:pPr>
            <a:r>
              <a:rPr b="1" lang="es" sz="1000">
                <a:solidFill>
                  <a:schemeClr val="dk2"/>
                </a:solidFill>
                <a:latin typeface="Roboto"/>
                <a:ea typeface="Roboto"/>
                <a:cs typeface="Roboto"/>
                <a:sym typeface="Roboto"/>
              </a:rPr>
              <a:t>Dashboard de Estrategias de Contenidos:</a:t>
            </a:r>
            <a:endParaRPr b="1" sz="1000">
              <a:solidFill>
                <a:schemeClr val="dk2"/>
              </a:solidFill>
              <a:latin typeface="Roboto"/>
              <a:ea typeface="Roboto"/>
              <a:cs typeface="Roboto"/>
              <a:sym typeface="Roboto"/>
            </a:endParaRPr>
          </a:p>
          <a:p>
            <a:pPr indent="0" lvl="0" marL="0" rtl="0" algn="just">
              <a:spcBef>
                <a:spcPts val="0"/>
              </a:spcBef>
              <a:spcAft>
                <a:spcPts val="0"/>
              </a:spcAft>
              <a:buNone/>
            </a:pPr>
            <a:r>
              <a:t/>
            </a:r>
            <a:endParaRPr b="1" sz="1000">
              <a:solidFill>
                <a:schemeClr val="dk2"/>
              </a:solidFill>
              <a:latin typeface="Roboto"/>
              <a:ea typeface="Roboto"/>
              <a:cs typeface="Roboto"/>
              <a:sym typeface="Roboto"/>
            </a:endParaRPr>
          </a:p>
          <a:p>
            <a:pPr indent="0" lvl="0" marL="0" rtl="0" algn="just">
              <a:spcBef>
                <a:spcPts val="0"/>
              </a:spcBef>
              <a:spcAft>
                <a:spcPts val="0"/>
              </a:spcAft>
              <a:buNone/>
            </a:pPr>
            <a:r>
              <a:t/>
            </a:r>
            <a:endParaRPr b="1" sz="1000">
              <a:solidFill>
                <a:schemeClr val="dk2"/>
              </a:solidFill>
              <a:latin typeface="Roboto"/>
              <a:ea typeface="Roboto"/>
              <a:cs typeface="Roboto"/>
              <a:sym typeface="Roboto"/>
            </a:endParaRPr>
          </a:p>
          <a:p>
            <a:pPr indent="-292100" lvl="0" marL="457200" rtl="0" algn="just">
              <a:spcBef>
                <a:spcPts val="0"/>
              </a:spcBef>
              <a:spcAft>
                <a:spcPts val="0"/>
              </a:spcAft>
              <a:buClr>
                <a:schemeClr val="dk2"/>
              </a:buClr>
              <a:buSzPts val="1000"/>
              <a:buFont typeface="Roboto"/>
              <a:buChar char="●"/>
            </a:pPr>
            <a:r>
              <a:rPr lang="es" sz="1000">
                <a:solidFill>
                  <a:schemeClr val="dk2"/>
                </a:solidFill>
                <a:latin typeface="Roboto"/>
                <a:ea typeface="Roboto"/>
                <a:cs typeface="Roboto"/>
                <a:sym typeface="Roboto"/>
              </a:rPr>
              <a:t>En 2025 la audiencia consume más Reality, Family (Familiar) y Adventure (Aventura).   </a:t>
            </a:r>
            <a:endParaRPr sz="1000">
              <a:solidFill>
                <a:schemeClr val="dk2"/>
              </a:solidFill>
              <a:latin typeface="Roboto"/>
              <a:ea typeface="Roboto"/>
              <a:cs typeface="Roboto"/>
              <a:sym typeface="Roboto"/>
            </a:endParaRPr>
          </a:p>
          <a:p>
            <a:pPr indent="0" lvl="0" marL="0" rtl="0" algn="just">
              <a:spcBef>
                <a:spcPts val="0"/>
              </a:spcBef>
              <a:spcAft>
                <a:spcPts val="0"/>
              </a:spcAft>
              <a:buNone/>
            </a:pPr>
            <a:r>
              <a:t/>
            </a:r>
            <a:endParaRPr sz="1000">
              <a:solidFill>
                <a:schemeClr val="dk2"/>
              </a:solidFill>
              <a:latin typeface="Roboto"/>
              <a:ea typeface="Roboto"/>
              <a:cs typeface="Roboto"/>
              <a:sym typeface="Roboto"/>
            </a:endParaRPr>
          </a:p>
          <a:p>
            <a:pPr indent="-292100" lvl="0" marL="457200" rtl="0" algn="just">
              <a:spcBef>
                <a:spcPts val="0"/>
              </a:spcBef>
              <a:spcAft>
                <a:spcPts val="0"/>
              </a:spcAft>
              <a:buClr>
                <a:schemeClr val="dk2"/>
              </a:buClr>
              <a:buSzPts val="1000"/>
              <a:buFont typeface="Roboto"/>
              <a:buChar char="●"/>
            </a:pPr>
            <a:r>
              <a:rPr lang="es" sz="1000">
                <a:solidFill>
                  <a:schemeClr val="dk2"/>
                </a:solidFill>
                <a:latin typeface="Roboto"/>
                <a:ea typeface="Roboto"/>
                <a:cs typeface="Roboto"/>
                <a:sym typeface="Roboto"/>
              </a:rPr>
              <a:t>El rating promedio de las películas y series cayó drásticamente frente a los estándares de 2024, descendiendo a 1,7 en películas y 2,7 en series.   </a:t>
            </a:r>
            <a:endParaRPr sz="1000">
              <a:solidFill>
                <a:schemeClr val="dk2"/>
              </a:solidFill>
              <a:latin typeface="Roboto"/>
              <a:ea typeface="Roboto"/>
              <a:cs typeface="Roboto"/>
              <a:sym typeface="Roboto"/>
            </a:endParaRPr>
          </a:p>
          <a:p>
            <a:pPr indent="0" lvl="0" marL="0" rtl="0" algn="just">
              <a:spcBef>
                <a:spcPts val="0"/>
              </a:spcBef>
              <a:spcAft>
                <a:spcPts val="0"/>
              </a:spcAft>
              <a:buNone/>
            </a:pPr>
            <a:r>
              <a:t/>
            </a:r>
            <a:endParaRPr sz="1000">
              <a:solidFill>
                <a:schemeClr val="dk2"/>
              </a:solidFill>
              <a:latin typeface="Roboto"/>
              <a:ea typeface="Roboto"/>
              <a:cs typeface="Roboto"/>
              <a:sym typeface="Roboto"/>
            </a:endParaRPr>
          </a:p>
          <a:p>
            <a:pPr indent="-292100" lvl="0" marL="457200" rtl="0" algn="just">
              <a:spcBef>
                <a:spcPts val="0"/>
              </a:spcBef>
              <a:spcAft>
                <a:spcPts val="0"/>
              </a:spcAft>
              <a:buClr>
                <a:schemeClr val="dk2"/>
              </a:buClr>
              <a:buSzPts val="1000"/>
              <a:buFont typeface="Roboto"/>
              <a:buChar char="●"/>
            </a:pPr>
            <a:r>
              <a:rPr lang="es" sz="1000">
                <a:solidFill>
                  <a:schemeClr val="dk2"/>
                </a:solidFill>
                <a:latin typeface="Roboto"/>
                <a:ea typeface="Roboto"/>
                <a:cs typeface="Roboto"/>
                <a:sym typeface="Roboto"/>
              </a:rPr>
              <a:t>La calidad del contenido actual se ve influida principalmente por países como Japón, Estados Unidos, Reino Unido y Francia.   </a:t>
            </a:r>
            <a:endParaRPr sz="1000">
              <a:solidFill>
                <a:schemeClr val="dk2"/>
              </a:solidFill>
              <a:latin typeface="Roboto"/>
              <a:ea typeface="Roboto"/>
              <a:cs typeface="Roboto"/>
              <a:sym typeface="Roboto"/>
            </a:endParaRPr>
          </a:p>
          <a:p>
            <a:pPr indent="0" lvl="0" marL="0" rtl="0" algn="just">
              <a:spcBef>
                <a:spcPts val="0"/>
              </a:spcBef>
              <a:spcAft>
                <a:spcPts val="0"/>
              </a:spcAft>
              <a:buNone/>
            </a:pPr>
            <a:r>
              <a:t/>
            </a:r>
            <a:endParaRPr sz="1000">
              <a:solidFill>
                <a:schemeClr val="dk2"/>
              </a:solidFill>
              <a:latin typeface="Roboto"/>
              <a:ea typeface="Roboto"/>
              <a:cs typeface="Roboto"/>
              <a:sym typeface="Roboto"/>
            </a:endParaRPr>
          </a:p>
          <a:p>
            <a:pPr indent="-292100" lvl="0" marL="457200" rtl="0" algn="just">
              <a:spcBef>
                <a:spcPts val="0"/>
              </a:spcBef>
              <a:spcAft>
                <a:spcPts val="0"/>
              </a:spcAft>
              <a:buClr>
                <a:schemeClr val="dk2"/>
              </a:buClr>
              <a:buSzPts val="1000"/>
              <a:buFont typeface="Roboto"/>
              <a:buChar char="●"/>
            </a:pPr>
            <a:r>
              <a:rPr lang="es" sz="1000">
                <a:solidFill>
                  <a:schemeClr val="dk2"/>
                </a:solidFill>
                <a:latin typeface="Roboto"/>
                <a:ea typeface="Roboto"/>
                <a:cs typeface="Roboto"/>
                <a:sym typeface="Roboto"/>
              </a:rPr>
              <a:t>El desafío de contenidos para 2025 es frenar la caída de calidad antes de que afecte financieramente a la plataforma.</a:t>
            </a:r>
            <a:endParaRPr sz="1000">
              <a:solidFill>
                <a:schemeClr val="dk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Hallazgos y recomendaciones </a:t>
            </a:r>
            <a:endParaRPr/>
          </a:p>
        </p:txBody>
      </p:sp>
      <p:sp>
        <p:nvSpPr>
          <p:cNvPr id="173" name="Google Shape;173;p24"/>
          <p:cNvSpPr txBox="1"/>
          <p:nvPr>
            <p:ph idx="1" type="body"/>
          </p:nvPr>
        </p:nvSpPr>
        <p:spPr>
          <a:xfrm>
            <a:off x="311700" y="1505700"/>
            <a:ext cx="3999900" cy="3076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s"/>
              <a:t>Hallazgos:</a:t>
            </a:r>
            <a:endParaRPr/>
          </a:p>
          <a:p>
            <a:pPr indent="-304959" lvl="0" marL="457200" rtl="0" algn="just">
              <a:spcBef>
                <a:spcPts val="1200"/>
              </a:spcBef>
              <a:spcAft>
                <a:spcPts val="0"/>
              </a:spcAft>
              <a:buSzPct val="100000"/>
              <a:buChar char="●"/>
            </a:pPr>
            <a:r>
              <a:rPr b="1" lang="es"/>
              <a:t>Ingresos: </a:t>
            </a:r>
            <a:r>
              <a:rPr lang="es"/>
              <a:t>Enero 2025 generó 2,1 mil millones en ganancias netas, superando los 0,1 mil millones del mismo mes en 2024.</a:t>
            </a:r>
            <a:endParaRPr/>
          </a:p>
          <a:p>
            <a:pPr indent="-304959" lvl="0" marL="457200" rtl="0" algn="just">
              <a:spcBef>
                <a:spcPts val="0"/>
              </a:spcBef>
              <a:spcAft>
                <a:spcPts val="0"/>
              </a:spcAft>
              <a:buSzPct val="100000"/>
              <a:buChar char="●"/>
            </a:pPr>
            <a:r>
              <a:rPr b="1" lang="es"/>
              <a:t>Eficiencia (ROI):</a:t>
            </a:r>
            <a:r>
              <a:rPr lang="es"/>
              <a:t> Desde 2020, la competencia supera a Streamview en retorno de inversión.</a:t>
            </a:r>
            <a:endParaRPr/>
          </a:p>
          <a:p>
            <a:pPr indent="-304959" lvl="0" marL="457200" rtl="0" algn="just">
              <a:spcBef>
                <a:spcPts val="0"/>
              </a:spcBef>
              <a:spcAft>
                <a:spcPts val="0"/>
              </a:spcAft>
              <a:buSzPct val="100000"/>
              <a:buChar char="●"/>
            </a:pPr>
            <a:r>
              <a:rPr b="1" lang="es"/>
              <a:t>Calidad:</a:t>
            </a:r>
            <a:r>
              <a:rPr lang="es"/>
              <a:t> El rating promedio global de películas y series en 2025 presenta una baja frente a 2024, cayendo a 1,7 y 2,7 respectivamente.</a:t>
            </a:r>
            <a:endParaRPr/>
          </a:p>
          <a:p>
            <a:pPr indent="-304959" lvl="0" marL="457200" rtl="0" algn="just">
              <a:spcBef>
                <a:spcPts val="0"/>
              </a:spcBef>
              <a:spcAft>
                <a:spcPts val="0"/>
              </a:spcAft>
              <a:buSzPct val="100000"/>
              <a:buChar char="●"/>
            </a:pPr>
            <a:r>
              <a:rPr b="1" lang="es"/>
              <a:t>Mercados: </a:t>
            </a:r>
            <a:r>
              <a:rPr lang="es"/>
              <a:t>Estados Unidos lidera el volumen de ganancias (9,4 mil millones), mientras que Japón encabeza la calidad con el mayor rating promedio (6,6), seguido de cerca por el mismo Estados Unidos, Reino Unido y Francia (todos con 6,2).</a:t>
            </a:r>
            <a:endParaRPr/>
          </a:p>
        </p:txBody>
      </p:sp>
      <p:sp>
        <p:nvSpPr>
          <p:cNvPr id="174" name="Google Shape;174;p24"/>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s"/>
              <a:t>Recomendaciones: </a:t>
            </a:r>
            <a:endParaRPr/>
          </a:p>
          <a:p>
            <a:pPr indent="-304959" lvl="0" marL="457200" rtl="0" algn="just">
              <a:spcBef>
                <a:spcPts val="1200"/>
              </a:spcBef>
              <a:spcAft>
                <a:spcPts val="0"/>
              </a:spcAft>
              <a:buSzPct val="100000"/>
              <a:buChar char="●"/>
            </a:pPr>
            <a:r>
              <a:rPr b="1" lang="es"/>
              <a:t>Control de Calidad:</a:t>
            </a:r>
            <a:r>
              <a:rPr lang="es"/>
              <a:t> Revisar las adquisiciones de 2025 para frenar la caída de ratings.</a:t>
            </a:r>
            <a:endParaRPr/>
          </a:p>
          <a:p>
            <a:pPr indent="-304959" lvl="0" marL="457200" rtl="0" algn="just">
              <a:spcBef>
                <a:spcPts val="0"/>
              </a:spcBef>
              <a:spcAft>
                <a:spcPts val="0"/>
              </a:spcAft>
              <a:buSzPct val="100000"/>
              <a:buChar char="●"/>
            </a:pPr>
            <a:r>
              <a:rPr b="1" lang="es"/>
              <a:t>Eficiencia de Capital:</a:t>
            </a:r>
            <a:r>
              <a:rPr lang="es"/>
              <a:t> Analizar el modelo de inversión de la competencia para recuperar el liderazgo en ROI.</a:t>
            </a:r>
            <a:endParaRPr/>
          </a:p>
          <a:p>
            <a:pPr indent="-304959" lvl="0" marL="457200" rtl="0" algn="just">
              <a:spcBef>
                <a:spcPts val="0"/>
              </a:spcBef>
              <a:spcAft>
                <a:spcPts val="0"/>
              </a:spcAft>
              <a:buSzPct val="100000"/>
              <a:buChar char="●"/>
            </a:pPr>
            <a:r>
              <a:rPr b="1" lang="es"/>
              <a:t>Foco de Catálogo: </a:t>
            </a:r>
            <a:r>
              <a:rPr lang="es"/>
              <a:t>Destinar el mayor presupuesto a los géneros más rentables y demandados actualmente por la audiencia: Reality, Familia (Family) y Aventura (Adventure).</a:t>
            </a:r>
            <a:endParaRPr/>
          </a:p>
          <a:p>
            <a:pPr indent="-304959" lvl="0" marL="457200" rtl="0" algn="just">
              <a:spcBef>
                <a:spcPts val="0"/>
              </a:spcBef>
              <a:spcAft>
                <a:spcPts val="0"/>
              </a:spcAft>
              <a:buSzPct val="100000"/>
              <a:buChar char="●"/>
            </a:pPr>
            <a:r>
              <a:rPr b="1" lang="es"/>
              <a:t>Producción Internacional: </a:t>
            </a:r>
            <a:r>
              <a:rPr lang="es"/>
              <a:t>Aumentar o mantener el desarrollo de contenidos en Japón, Estados Unidos, Reino Unido y Francia para asegurar y elevar el prestigio del catálogo.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type="title"/>
          </p:nvPr>
        </p:nvSpPr>
        <p:spPr>
          <a:xfrm>
            <a:off x="155525" y="1949400"/>
            <a:ext cx="4223400" cy="124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s" sz="6500"/>
              <a:t>GRACIAS</a:t>
            </a:r>
            <a:endParaRPr sz="6500"/>
          </a:p>
        </p:txBody>
      </p:sp>
      <p:pic>
        <p:nvPicPr>
          <p:cNvPr id="180" name="Google Shape;180;p25"/>
          <p:cNvPicPr preferRelativeResize="0"/>
          <p:nvPr/>
        </p:nvPicPr>
        <p:blipFill rotWithShape="1">
          <a:blip r:embed="rId3">
            <a:alphaModFix amt="44000"/>
          </a:blip>
          <a:srcRect b="0" l="3942" r="3078" t="0"/>
          <a:stretch/>
        </p:blipFill>
        <p:spPr>
          <a:xfrm>
            <a:off x="4048575" y="0"/>
            <a:ext cx="5095425"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